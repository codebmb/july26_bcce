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70" r:id="rId9"/>
    <p:sldId id="272" r:id="rId10"/>
    <p:sldId id="276" r:id="rId11"/>
    <p:sldId id="271" r:id="rId12"/>
    <p:sldId id="275" r:id="rId13"/>
    <p:sldId id="267" r:id="rId14"/>
    <p:sldId id="268" r:id="rId15"/>
    <p:sldId id="265" r:id="rId16"/>
    <p:sldId id="269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564"/>
    <a:srgbClr val="9EB4C7"/>
    <a:srgbClr val="FF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/>
    <p:restoredTop sz="96301"/>
  </p:normalViewPr>
  <p:slideViewPr>
    <p:cSldViewPr snapToGrid="0" snapToObjects="1">
      <p:cViewPr varScale="1">
        <p:scale>
          <a:sx n="110" d="100"/>
          <a:sy n="110" d="100"/>
        </p:scale>
        <p:origin x="4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8B10A-EFDE-FB49-BB1F-0DD9A866CAB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E5783-34F2-BB42-BEDC-4E3EF3B5E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9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06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9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72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F354-2DEA-6499-BE5E-D7E26C63D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6DF5F-A809-194E-D146-007D0CE01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56836-6E86-0275-C3FB-44B762754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71113-8E55-DA07-49B4-F29DECA9A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84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34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35CE-E309-8607-7EE2-AAF87A3BD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48CD7-FBE3-F372-918D-AF53AF4CF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BA18C-704C-6CE6-D8F2-186E70ABF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A742D-0A03-B36C-8C0E-8C1E45B84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82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3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4A067F-1F9C-D7FE-5754-EF822BEC1D68}"/>
              </a:ext>
            </a:extLst>
          </p:cNvPr>
          <p:cNvSpPr/>
          <p:nvPr userDrawn="1"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4534C-8954-99BB-8DB5-7176F481DFB5}"/>
              </a:ext>
            </a:extLst>
          </p:cNvPr>
          <p:cNvSpPr txBox="1"/>
          <p:nvPr userDrawn="1"/>
        </p:nvSpPr>
        <p:spPr>
          <a:xfrm>
            <a:off x="182880" y="6510528"/>
            <a:ext cx="11795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</a:rPr>
              <a:t>CodeBMB</a:t>
            </a:r>
            <a:r>
              <a:rPr sz="1600" b="0" dirty="0">
                <a:solidFill>
                  <a:srgbClr val="FFFFFF"/>
                </a:solidFill>
              </a:rPr>
              <a:t> Workshop  |  </a:t>
            </a:r>
            <a:r>
              <a:rPr sz="1600" b="0" dirty="0" err="1">
                <a:solidFill>
                  <a:srgbClr val="FFFFFF"/>
                </a:solidFill>
              </a:rPr>
              <a:t>coding</a:t>
            </a:r>
            <a:r>
              <a:rPr lang="en-US" sz="1600" b="0" dirty="0" err="1">
                <a:solidFill>
                  <a:srgbClr val="FFFFFF"/>
                </a:solidFill>
              </a:rPr>
              <a:t>for</a:t>
            </a:r>
            <a:r>
              <a:rPr sz="1600" b="0" dirty="0" err="1">
                <a:solidFill>
                  <a:srgbClr val="FFFFFF"/>
                </a:solidFill>
              </a:rPr>
              <a:t>BMB@gmail.com</a:t>
            </a:r>
            <a:r>
              <a:rPr lang="en-US" sz="1600" b="0" dirty="0">
                <a:solidFill>
                  <a:srgbClr val="FFFFFF"/>
                </a:solidFill>
              </a:rPr>
              <a:t>  |  </a:t>
            </a:r>
            <a:r>
              <a:rPr lang="en-US" sz="1600" b="0" dirty="0" err="1">
                <a:solidFill>
                  <a:srgbClr val="FFFFFF"/>
                </a:solidFill>
              </a:rPr>
              <a:t>github.com</a:t>
            </a:r>
            <a:r>
              <a:rPr lang="en-US" sz="1600" b="0" dirty="0">
                <a:solidFill>
                  <a:srgbClr val="FFFFFF"/>
                </a:solidFill>
              </a:rPr>
              <a:t>/</a:t>
            </a:r>
            <a:r>
              <a:rPr lang="en-US" sz="1600" b="0" dirty="0" err="1">
                <a:solidFill>
                  <a:srgbClr val="FFFFFF"/>
                </a:solidFill>
              </a:rPr>
              <a:t>codeBMB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9" name="Picture 8" descr="A green and yellow snake logo&#10;&#10;AI-generated content may be incorrect.">
            <a:extLst>
              <a:ext uri="{FF2B5EF4-FFF2-40B4-BE49-F238E27FC236}">
                <a16:creationId xmlns:a16="http://schemas.microsoft.com/office/drawing/2014/main" id="{0D4C80D5-72D0-A67A-4929-5E0ABC80586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300662" y="6172200"/>
            <a:ext cx="6830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83C8AD-4834-5B86-9B3A-70E363DE9682}"/>
              </a:ext>
            </a:extLst>
          </p:cNvPr>
          <p:cNvSpPr/>
          <p:nvPr/>
        </p:nvSpPr>
        <p:spPr>
          <a:xfrm>
            <a:off x="0" y="7749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C1C6DB-1865-2876-4084-001B444A8D4A}"/>
              </a:ext>
            </a:extLst>
          </p:cNvPr>
          <p:cNvSpPr/>
          <p:nvPr/>
        </p:nvSpPr>
        <p:spPr>
          <a:xfrm>
            <a:off x="0" y="1995914"/>
            <a:ext cx="12188825" cy="2291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Introduction to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2029" y="2541470"/>
            <a:ext cx="60477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dirty="0">
                <a:solidFill>
                  <a:srgbClr val="002060"/>
                </a:solidFill>
              </a:rPr>
              <a:t>Accessing, Sharing, and Storing Your Code and Notebooks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78D5A-B793-65D8-AA12-5BC84B29B755}"/>
              </a:ext>
            </a:extLst>
          </p:cNvPr>
          <p:cNvSpPr txBox="1"/>
          <p:nvPr/>
        </p:nvSpPr>
        <p:spPr>
          <a:xfrm>
            <a:off x="457200" y="493776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dirty="0">
                <a:solidFill>
                  <a:srgbClr val="BDD7EE"/>
                </a:solidFill>
              </a:rPr>
              <a:t>Wally Novak, Pauk Craig, Chris Berndsen, Mike Foster</a:t>
            </a:r>
          </a:p>
          <a:p>
            <a:pPr algn="ctr"/>
            <a:r>
              <a:rPr sz="2400" b="0" dirty="0" err="1">
                <a:solidFill>
                  <a:srgbClr val="BDD7EE"/>
                </a:solidFill>
              </a:rPr>
              <a:t>CodeBMB</a:t>
            </a:r>
            <a:r>
              <a:rPr sz="2400" b="0" dirty="0">
                <a:solidFill>
                  <a:srgbClr val="BDD7EE"/>
                </a:solidFill>
              </a:rPr>
              <a:t> Workshop</a:t>
            </a:r>
            <a:r>
              <a:rPr lang="en-US" sz="2400" b="0" dirty="0">
                <a:solidFill>
                  <a:srgbClr val="BDD7EE"/>
                </a:solidFill>
              </a:rPr>
              <a:t> – BCCE 2026</a:t>
            </a:r>
            <a:endParaRPr sz="2400" b="0" dirty="0">
              <a:solidFill>
                <a:srgbClr val="BDD7EE"/>
              </a:solidFill>
            </a:endParaRPr>
          </a:p>
        </p:txBody>
      </p:sp>
      <p:pic>
        <p:nvPicPr>
          <p:cNvPr id="10" name="Picture 9" descr="A logo with text and a snake&#10;&#10;AI-generated content may be incorrect.">
            <a:extLst>
              <a:ext uri="{FF2B5EF4-FFF2-40B4-BE49-F238E27FC236}">
                <a16:creationId xmlns:a16="http://schemas.microsoft.com/office/drawing/2014/main" id="{C563F762-8DC8-1951-E06C-B2A528EC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831" y="1995914"/>
            <a:ext cx="2453372" cy="2291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By the End of This Session You Will Be Able To...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Explain </a:t>
            </a:r>
            <a:r>
              <a:rPr sz="3200" b="1" dirty="0">
                <a:solidFill>
                  <a:srgbClr val="404040"/>
                </a:solidFill>
              </a:rPr>
              <a:t>what GitHub is </a:t>
            </a:r>
            <a:r>
              <a:rPr sz="3200" dirty="0">
                <a:solidFill>
                  <a:srgbClr val="404040"/>
                </a:solidFill>
              </a:rPr>
              <a:t>and why it is useful for scientists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Navigate a GitHub repository to </a:t>
            </a:r>
            <a:r>
              <a:rPr sz="3200" b="1" dirty="0">
                <a:solidFill>
                  <a:srgbClr val="404040"/>
                </a:solidFill>
              </a:rPr>
              <a:t>find files and notebooks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b="1" dirty="0">
                <a:solidFill>
                  <a:srgbClr val="404040"/>
                </a:solidFill>
              </a:rPr>
              <a:t>Open a </a:t>
            </a:r>
            <a:r>
              <a:rPr sz="3200" b="1" dirty="0" err="1">
                <a:solidFill>
                  <a:srgbClr val="404040"/>
                </a:solidFill>
              </a:rPr>
              <a:t>Colab</a:t>
            </a:r>
            <a:r>
              <a:rPr sz="3200" b="1" dirty="0">
                <a:solidFill>
                  <a:srgbClr val="404040"/>
                </a:solidFill>
              </a:rPr>
              <a:t> notebook </a:t>
            </a:r>
            <a:r>
              <a:rPr sz="3200" dirty="0">
                <a:solidFill>
                  <a:srgbClr val="404040"/>
                </a:solidFill>
              </a:rPr>
              <a:t>directly from GitHub</a:t>
            </a:r>
            <a:r>
              <a:rPr lang="en-US" sz="3200" dirty="0">
                <a:solidFill>
                  <a:srgbClr val="404040"/>
                </a:solidFill>
              </a:rPr>
              <a:t> </a:t>
            </a:r>
          </a:p>
          <a:p>
            <a:pPr marL="914400" lvl="1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with or without an Open in </a:t>
            </a:r>
            <a:r>
              <a:rPr sz="3200" dirty="0" err="1">
                <a:solidFill>
                  <a:srgbClr val="404040"/>
                </a:solidFill>
              </a:rPr>
              <a:t>Colab</a:t>
            </a:r>
            <a:r>
              <a:rPr sz="3200" dirty="0">
                <a:solidFill>
                  <a:srgbClr val="404040"/>
                </a:solidFill>
              </a:rPr>
              <a:t> button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04040"/>
                </a:solidFill>
              </a:rPr>
              <a:t>Fork a repository to </a:t>
            </a:r>
            <a:r>
              <a:rPr lang="en-US" sz="3200" b="1" dirty="0">
                <a:solidFill>
                  <a:srgbClr val="404040"/>
                </a:solidFill>
              </a:rPr>
              <a:t>create your own </a:t>
            </a:r>
            <a:r>
              <a:rPr lang="en-US" sz="3200" dirty="0">
                <a:solidFill>
                  <a:srgbClr val="404040"/>
                </a:solidFill>
              </a:rPr>
              <a:t>editable copy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04040"/>
                </a:solidFill>
              </a:rPr>
              <a:t>Save </a:t>
            </a:r>
            <a:r>
              <a:rPr lang="en-US" sz="3200" dirty="0">
                <a:solidFill>
                  <a:srgbClr val="404040"/>
                </a:solidFill>
              </a:rPr>
              <a:t>a notebook back to GitHub</a:t>
            </a:r>
            <a:endParaRPr lang="en-US" sz="32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Is GitHub and Why Do We Use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Think of GitHub as a combination of three things: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6576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📁  </a:t>
            </a:r>
            <a:r>
              <a:rPr lang="en-US" sz="2400" b="1" dirty="0">
                <a:solidFill>
                  <a:srgbClr val="FFFFFF"/>
                </a:solidFill>
              </a:rPr>
              <a:t>Sh</a:t>
            </a:r>
            <a:r>
              <a:rPr sz="2400" b="1" dirty="0">
                <a:solidFill>
                  <a:srgbClr val="FFFFFF"/>
                </a:solidFill>
              </a:rPr>
              <a:t>ared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drive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dirty="0">
                <a:solidFill>
                  <a:srgbClr val="1F3564"/>
                </a:solidFill>
              </a:rPr>
              <a:t>Store and access
files from anywhere,
on any device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657600" cy="685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29768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📓  </a:t>
            </a:r>
            <a:r>
              <a:rPr lang="en-US" sz="2400" b="1" dirty="0">
                <a:solidFill>
                  <a:srgbClr val="FFFFFF"/>
                </a:solidFill>
              </a:rPr>
              <a:t>L</a:t>
            </a:r>
            <a:r>
              <a:rPr sz="2400" b="1" dirty="0">
                <a:solidFill>
                  <a:srgbClr val="FFFFFF"/>
                </a:solidFill>
              </a:rPr>
              <a:t>ab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notebook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F3564"/>
                </a:solidFill>
              </a:rPr>
              <a:t>Every change is
recorded with who
made it and when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657600" cy="6858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🔗  </a:t>
            </a:r>
            <a:r>
              <a:rPr lang="en-US" sz="2400" b="1" dirty="0">
                <a:solidFill>
                  <a:srgbClr val="FFFFFF"/>
                </a:solidFill>
              </a:rPr>
              <a:t>P</a:t>
            </a:r>
            <a:r>
              <a:rPr sz="2400" b="1" dirty="0">
                <a:solidFill>
                  <a:srgbClr val="FFFFFF"/>
                </a:solidFill>
              </a:rPr>
              <a:t>ublishing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F3564"/>
                </a:solidFill>
              </a:rPr>
              <a:t>Share your code
with colleagues,
students, or the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519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F3564"/>
                </a:solidFill>
              </a:rPr>
              <a:t>Why GitHub specifically?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11247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400" b="1" u="sng" dirty="0">
                <a:solidFill>
                  <a:srgbClr val="404040"/>
                </a:solidFill>
              </a:rPr>
              <a:t>Free</a:t>
            </a:r>
            <a:r>
              <a:rPr sz="2400" dirty="0">
                <a:solidFill>
                  <a:srgbClr val="404040"/>
                </a:solidFill>
              </a:rPr>
              <a:t> for public repositories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404040"/>
                </a:solidFill>
              </a:rPr>
              <a:t>Used across science, industry, and education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404040"/>
                </a:solidFill>
              </a:rPr>
              <a:t>Integrates directly with Google </a:t>
            </a:r>
            <a:r>
              <a:rPr sz="2400" dirty="0" err="1">
                <a:solidFill>
                  <a:srgbClr val="404040"/>
                </a:solidFill>
              </a:rPr>
              <a:t>Colab</a:t>
            </a:r>
            <a:r>
              <a:rPr sz="2400" dirty="0">
                <a:solidFill>
                  <a:srgbClr val="404040"/>
                </a:solidFill>
              </a:rPr>
              <a:t> </a:t>
            </a:r>
            <a:r>
              <a:rPr lang="en-US" sz="2400" dirty="0">
                <a:solidFill>
                  <a:srgbClr val="404040"/>
                </a:solidFill>
              </a:rPr>
              <a:t>with the O</a:t>
            </a:r>
            <a:r>
              <a:rPr sz="2400" dirty="0">
                <a:solidFill>
                  <a:srgbClr val="404040"/>
                </a:solidFill>
              </a:rPr>
              <a:t>pen</a:t>
            </a:r>
            <a:r>
              <a:rPr lang="en-US" sz="2400" dirty="0">
                <a:solidFill>
                  <a:srgbClr val="404040"/>
                </a:solidFill>
              </a:rPr>
              <a:t> in </a:t>
            </a:r>
            <a:r>
              <a:rPr lang="en-US" sz="2400" dirty="0" err="1">
                <a:solidFill>
                  <a:srgbClr val="404040"/>
                </a:solidFill>
              </a:rPr>
              <a:t>Colab</a:t>
            </a:r>
            <a:r>
              <a:rPr lang="en-US" sz="2400" dirty="0">
                <a:solidFill>
                  <a:srgbClr val="404040"/>
                </a:solidFill>
              </a:rPr>
              <a:t>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</a:rPr>
              <a:t>Easily update materials (version control)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GitHub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E75B6"/>
                </a:solidFill>
              </a:rPr>
              <a:t>Five terms you need to know before we start: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27632"/>
            <a:ext cx="201168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384048" y="1664208"/>
            <a:ext cx="19751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Repository
(repo)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627632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2514600" y="1673352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folder that contains all the files for a project — code, notebooks, data, and documentation.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T</a:t>
            </a:r>
            <a:r>
              <a:rPr lang="en-US" sz="2000" b="0" dirty="0">
                <a:solidFill>
                  <a:srgbClr val="404040"/>
                </a:solidFill>
              </a:rPr>
              <a:t>his is effectively </a:t>
            </a:r>
            <a:r>
              <a:rPr sz="2000" b="0" dirty="0">
                <a:solidFill>
                  <a:srgbClr val="404040"/>
                </a:solidFill>
              </a:rPr>
              <a:t>a project folder that lives in the cloud.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23744"/>
            <a:ext cx="2011680" cy="8046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84048" y="2560320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README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523744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2514600" y="2569463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text file (usually </a:t>
            </a:r>
            <a:r>
              <a:rPr sz="2000" b="0" dirty="0" err="1">
                <a:solidFill>
                  <a:srgbClr val="404040"/>
                </a:solidFill>
              </a:rPr>
              <a:t>README.md</a:t>
            </a:r>
            <a:r>
              <a:rPr sz="2000" b="0" dirty="0">
                <a:solidFill>
                  <a:srgbClr val="404040"/>
                </a:solidFill>
              </a:rPr>
              <a:t>) that appears on the front page of a repository.
It explains what the project is and how to use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19856"/>
            <a:ext cx="2011680" cy="8046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384048" y="3456432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419856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2514600" y="3465576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saved snapshot of your files at a specific point in time, with a short message describing what changed.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4315968"/>
            <a:ext cx="201168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384048" y="4352544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4315968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2514600" y="4361688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04040"/>
                </a:solidFill>
              </a:rPr>
              <a:t>Your own personal copy of someone else's repository.
You can make changes to your fork without affecting the original.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80"/>
            <a:ext cx="2011680" cy="80467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384048" y="5248656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Branch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5212080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2514600" y="5257800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parallel version of the repository</a:t>
            </a:r>
            <a:r>
              <a:rPr lang="en-US" sz="2000" b="0" dirty="0">
                <a:solidFill>
                  <a:srgbClr val="404040"/>
                </a:solidFill>
              </a:rPr>
              <a:t>, the one you want is</a:t>
            </a:r>
            <a:r>
              <a:rPr sz="2000" b="0" dirty="0">
                <a:solidFill>
                  <a:srgbClr val="404040"/>
                </a:solidFill>
              </a:rPr>
              <a:t> almost always called 'main</a:t>
            </a:r>
            <a:r>
              <a:rPr lang="en-US" sz="2000" b="0" dirty="0">
                <a:solidFill>
                  <a:srgbClr val="404040"/>
                </a:solidFill>
              </a:rPr>
              <a:t>.</a:t>
            </a:r>
            <a:r>
              <a:rPr sz="2000" b="0" dirty="0">
                <a:solidFill>
                  <a:srgbClr val="404040"/>
                </a:solidFill>
              </a:rPr>
              <a:t>' You will rarely need to think about branches as a beginner.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Anatomy of a GitHub Repository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6606B-BB5F-AA8A-1490-0720E6FEB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42" y="1097280"/>
            <a:ext cx="10196339" cy="52581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246120" y="1124235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① Repository</a:t>
            </a:r>
            <a:r>
              <a:rPr lang="en-US" sz="2000" b="1" dirty="0">
                <a:solidFill>
                  <a:srgbClr val="FF7700"/>
                </a:solidFill>
              </a:rPr>
              <a:t> </a:t>
            </a:r>
            <a:r>
              <a:rPr sz="2000" b="1" dirty="0">
                <a:solidFill>
                  <a:srgbClr val="FF7700"/>
                </a:solidFill>
              </a:rPr>
              <a:t>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025769"/>
            <a:ext cx="2834640" cy="54864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② Folders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4736" y="4675520"/>
            <a:ext cx="2926080" cy="54864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③ Notebooks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2181" y="5955297"/>
            <a:ext cx="283464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④ README</a:t>
            </a:r>
          </a:p>
        </p:txBody>
      </p:sp>
      <p:sp>
        <p:nvSpPr>
          <p:cNvPr id="36" name="Double Brace 35">
            <a:extLst>
              <a:ext uri="{FF2B5EF4-FFF2-40B4-BE49-F238E27FC236}">
                <a16:creationId xmlns:a16="http://schemas.microsoft.com/office/drawing/2014/main" id="{9039749A-4626-5919-C5BC-723955BD74F4}"/>
              </a:ext>
            </a:extLst>
          </p:cNvPr>
          <p:cNvSpPr/>
          <p:nvPr/>
        </p:nvSpPr>
        <p:spPr>
          <a:xfrm>
            <a:off x="701750" y="3944384"/>
            <a:ext cx="3662986" cy="2010913"/>
          </a:xfrm>
          <a:prstGeom prst="bracePair">
            <a:avLst/>
          </a:prstGeom>
          <a:ln>
            <a:solidFill>
              <a:srgbClr val="FF7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uble Brace 36">
            <a:extLst>
              <a:ext uri="{FF2B5EF4-FFF2-40B4-BE49-F238E27FC236}">
                <a16:creationId xmlns:a16="http://schemas.microsoft.com/office/drawing/2014/main" id="{0B41E108-8707-8F34-59AE-184A4171955F}"/>
              </a:ext>
            </a:extLst>
          </p:cNvPr>
          <p:cNvSpPr/>
          <p:nvPr/>
        </p:nvSpPr>
        <p:spPr>
          <a:xfrm>
            <a:off x="829056" y="2648478"/>
            <a:ext cx="2023872" cy="1204465"/>
          </a:xfrm>
          <a:prstGeom prst="bracePair">
            <a:avLst/>
          </a:prstGeom>
          <a:ln>
            <a:solidFill>
              <a:srgbClr val="FF7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Walkthrough 1 — Finding the CodeBMB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0948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89237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6690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384048" y="1341554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286690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2057400" y="1378130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3564"/>
                </a:solidFill>
              </a:rPr>
              <a:t>Open a browser and go to:  github.com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7938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384048" y="2182802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127938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2057400" y="2219378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In the search bar at the top, type:  </a:t>
            </a:r>
            <a:r>
              <a:rPr sz="2400" b="0" dirty="0" err="1">
                <a:solidFill>
                  <a:srgbClr val="1F3564"/>
                </a:solidFill>
              </a:rPr>
              <a:t>codeBMB</a:t>
            </a:r>
            <a:r>
              <a:rPr lang="en-US" sz="2400" dirty="0">
                <a:solidFill>
                  <a:srgbClr val="1F3564"/>
                </a:solidFill>
              </a:rPr>
              <a:t> </a:t>
            </a:r>
            <a:r>
              <a:rPr sz="2400" b="0" dirty="0">
                <a:solidFill>
                  <a:srgbClr val="1F3564"/>
                </a:solidFill>
              </a:rPr>
              <a:t>and press 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69186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384048" y="3024050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969186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2057400" y="3060626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Click on the repository:  </a:t>
            </a:r>
            <a:r>
              <a:rPr sz="2400" b="0" dirty="0" err="1">
                <a:solidFill>
                  <a:srgbClr val="1F3564"/>
                </a:solidFill>
              </a:rPr>
              <a:t>codeBMB</a:t>
            </a:r>
            <a:r>
              <a:rPr sz="2400" b="0" dirty="0">
                <a:solidFill>
                  <a:srgbClr val="1F3564"/>
                </a:solidFill>
              </a:rPr>
              <a:t>/</a:t>
            </a:r>
            <a:r>
              <a:rPr lang="en-US" sz="2400" b="0" dirty="0">
                <a:solidFill>
                  <a:srgbClr val="1F3564"/>
                </a:solidFill>
              </a:rPr>
              <a:t>July26_BCCE</a:t>
            </a:r>
            <a:endParaRPr sz="2400" b="0" dirty="0">
              <a:solidFill>
                <a:srgbClr val="1F3564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3810434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384048" y="3865297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810434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2057400" y="3901873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Read the READM</a:t>
            </a:r>
            <a:r>
              <a:rPr lang="en-US" sz="2400" b="0" dirty="0">
                <a:solidFill>
                  <a:srgbClr val="1F3564"/>
                </a:solidFill>
              </a:rPr>
              <a:t>E,</a:t>
            </a:r>
            <a:r>
              <a:rPr sz="2400" b="0" dirty="0">
                <a:solidFill>
                  <a:srgbClr val="1F3564"/>
                </a:solidFill>
              </a:rPr>
              <a:t> this tells you what the repository contains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51682"/>
            <a:ext cx="1463040" cy="88174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384048" y="4706545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4651682"/>
            <a:ext cx="9875520" cy="88174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2057400" y="4690867"/>
            <a:ext cx="9601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Click on the file  </a:t>
            </a:r>
            <a:r>
              <a:rPr lang="en-US" sz="2400" b="0" dirty="0">
                <a:solidFill>
                  <a:srgbClr val="1F3564"/>
                </a:solidFill>
              </a:rPr>
              <a:t>001_Colab_and_Python_essentials.ipynb </a:t>
            </a:r>
            <a:r>
              <a:rPr sz="2400" b="0" dirty="0">
                <a:solidFill>
                  <a:srgbClr val="1F3564"/>
                </a:solidFill>
              </a:rPr>
              <a:t>to see what a notebook looks like on GitHub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624868"/>
            <a:ext cx="1143000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548640" y="5670588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💡  Tip: You do not need a GitHub account to browse, read, or download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FD7FABC-9ACC-8D22-7223-6D982804CED8}"/>
              </a:ext>
            </a:extLst>
          </p:cNvPr>
          <p:cNvSpPr/>
          <p:nvPr/>
        </p:nvSpPr>
        <p:spPr>
          <a:xfrm>
            <a:off x="960120" y="418899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3267D-CAF7-C943-9061-94BCF139897F}"/>
              </a:ext>
            </a:extLst>
          </p:cNvPr>
          <p:cNvSpPr/>
          <p:nvPr/>
        </p:nvSpPr>
        <p:spPr>
          <a:xfrm>
            <a:off x="960120" y="287001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2</a:t>
            </a:r>
            <a:r>
              <a:rPr sz="3000" b="1" dirty="0">
                <a:solidFill>
                  <a:srgbClr val="FFFFFF"/>
                </a:solidFill>
              </a:rPr>
              <a:t> — Forking a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51115"/>
            <a:ext cx="1143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fork is your own personal copy of the </a:t>
            </a:r>
            <a:r>
              <a:rPr sz="2000" b="0" dirty="0" err="1">
                <a:solidFill>
                  <a:srgbClr val="404040"/>
                </a:solidFill>
              </a:rPr>
              <a:t>CodeBMB</a:t>
            </a:r>
            <a:r>
              <a:rPr sz="2000" b="0" dirty="0">
                <a:solidFill>
                  <a:srgbClr val="404040"/>
                </a:solidFill>
              </a:rPr>
              <a:t> repository. You can edit it, save to it, and build on it</a:t>
            </a:r>
            <a:r>
              <a:rPr lang="en-US" sz="2000" b="0" dirty="0">
                <a:solidFill>
                  <a:srgbClr val="404040"/>
                </a:solidFill>
              </a:rPr>
              <a:t>, all</a:t>
            </a:r>
            <a:r>
              <a:rPr sz="2000" b="0" dirty="0">
                <a:solidFill>
                  <a:srgbClr val="404040"/>
                </a:solidFill>
              </a:rPr>
              <a:t> without changing the original</a:t>
            </a:r>
            <a:r>
              <a:rPr lang="en-US" sz="2000" b="0" dirty="0">
                <a:solidFill>
                  <a:srgbClr val="404040"/>
                </a:solidFill>
              </a:rPr>
              <a:t>!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2208076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365760" y="2253795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20807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1051560" y="2262940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Go to  </a:t>
            </a:r>
            <a:r>
              <a:rPr b="1" dirty="0" err="1">
                <a:solidFill>
                  <a:srgbClr val="1F3564"/>
                </a:solidFill>
              </a:rPr>
              <a:t>github.com</a:t>
            </a:r>
            <a:r>
              <a:rPr b="1" dirty="0">
                <a:solidFill>
                  <a:srgbClr val="1F3564"/>
                </a:solidFill>
              </a:rPr>
              <a:t>/</a:t>
            </a:r>
            <a:r>
              <a:rPr b="1" dirty="0" err="1">
                <a:solidFill>
                  <a:srgbClr val="1F3564"/>
                </a:solidFill>
              </a:rPr>
              <a:t>codeBMB</a:t>
            </a:r>
            <a:r>
              <a:rPr b="1" dirty="0">
                <a:solidFill>
                  <a:srgbClr val="1F3564"/>
                </a:solidFill>
              </a:rPr>
              <a:t>/</a:t>
            </a:r>
            <a:r>
              <a:rPr lang="en-US" b="1" dirty="0">
                <a:solidFill>
                  <a:srgbClr val="1F3564"/>
                </a:solidFill>
              </a:rPr>
              <a:t>July26_BCCE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2866443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365760" y="291216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21307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Click the  Fork  button in the top-right corner of the repository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481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365760" y="3570531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524812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1051560" y="3579676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Leave all settings as default and click </a:t>
            </a:r>
            <a:r>
              <a:rPr b="1" dirty="0">
                <a:solidFill>
                  <a:srgbClr val="1F3564"/>
                </a:solidFill>
              </a:rPr>
              <a:t>Create fork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83180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365760" y="422890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238044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GitHub redirect</a:t>
            </a:r>
            <a:r>
              <a:rPr lang="en-US" b="0" dirty="0">
                <a:solidFill>
                  <a:srgbClr val="1F3564"/>
                </a:solidFill>
              </a:rPr>
              <a:t>s</a:t>
            </a:r>
            <a:r>
              <a:rPr b="0" dirty="0">
                <a:solidFill>
                  <a:srgbClr val="1F3564"/>
                </a:solidFill>
              </a:rPr>
              <a:t> you to YOUR copy of the repository at:</a:t>
            </a:r>
            <a:r>
              <a:rPr lang="en-US" b="0" dirty="0">
                <a:solidFill>
                  <a:srgbClr val="1F3564"/>
                </a:solidFill>
              </a:rPr>
              <a:t> </a:t>
            </a:r>
            <a:r>
              <a:rPr b="1" dirty="0" err="1">
                <a:solidFill>
                  <a:srgbClr val="1F3564"/>
                </a:solidFill>
              </a:rPr>
              <a:t>github.com</a:t>
            </a:r>
            <a:r>
              <a:rPr b="1" dirty="0">
                <a:solidFill>
                  <a:srgbClr val="1F3564"/>
                </a:solidFill>
              </a:rPr>
              <a:t>/YOUR-USERNAME/</a:t>
            </a:r>
            <a:r>
              <a:rPr lang="en-US" b="1" dirty="0">
                <a:solidFill>
                  <a:srgbClr val="1F3564"/>
                </a:solidFill>
              </a:rPr>
              <a:t>July26_BCCE</a:t>
            </a:r>
            <a:endParaRPr b="1" dirty="0">
              <a:solidFill>
                <a:srgbClr val="1F3564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1F1FAFB-A997-DF1A-BD08-547B719FE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416" y="2908045"/>
            <a:ext cx="1371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0016C-7125-E300-30D9-672054905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B4AC3B3-720C-9D37-FC08-1702069D396D}"/>
              </a:ext>
            </a:extLst>
          </p:cNvPr>
          <p:cNvSpPr/>
          <p:nvPr/>
        </p:nvSpPr>
        <p:spPr>
          <a:xfrm>
            <a:off x="914400" y="1644982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3F887C-DC11-7230-A39C-73633267B8C5}"/>
              </a:ext>
            </a:extLst>
          </p:cNvPr>
          <p:cNvSpPr/>
          <p:nvPr/>
        </p:nvSpPr>
        <p:spPr>
          <a:xfrm>
            <a:off x="914400" y="3013242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B1388F0-AA60-C92F-D645-AD04C908F017}"/>
              </a:ext>
            </a:extLst>
          </p:cNvPr>
          <p:cNvSpPr/>
          <p:nvPr/>
        </p:nvSpPr>
        <p:spPr>
          <a:xfrm>
            <a:off x="914400" y="3668225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389BF30-E8D9-1F5A-5EC2-FB344D13A9F1}"/>
              </a:ext>
            </a:extLst>
          </p:cNvPr>
          <p:cNvSpPr/>
          <p:nvPr/>
        </p:nvSpPr>
        <p:spPr>
          <a:xfrm>
            <a:off x="914400" y="4329979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35D7805-0122-B2E2-1A7C-C260C905C97C}"/>
              </a:ext>
            </a:extLst>
          </p:cNvPr>
          <p:cNvSpPr/>
          <p:nvPr/>
        </p:nvSpPr>
        <p:spPr>
          <a:xfrm>
            <a:off x="914400" y="4991733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0B1A3FB-0C50-14BE-E971-B8E57787CA9C}"/>
              </a:ext>
            </a:extLst>
          </p:cNvPr>
          <p:cNvSpPr/>
          <p:nvPr/>
        </p:nvSpPr>
        <p:spPr>
          <a:xfrm>
            <a:off x="914400" y="5632248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89285-617F-6C94-A311-EB623B37D7E0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0A662-4407-C8E1-C98F-2D867F269A7C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3</a:t>
            </a:r>
            <a:r>
              <a:rPr sz="3000" b="1" dirty="0">
                <a:solidFill>
                  <a:srgbClr val="FFFFFF"/>
                </a:solidFill>
              </a:rPr>
              <a:t> — Opening a Notebook in </a:t>
            </a:r>
            <a:r>
              <a:rPr sz="3000" b="1" dirty="0" err="1">
                <a:solidFill>
                  <a:srgbClr val="FFFFFF"/>
                </a:solidFill>
              </a:rPr>
              <a:t>Colab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88C91-429F-397A-0838-EEBC662A1D43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EBD3A-CC38-FB62-C354-AEE2A1BECF1F}"/>
              </a:ext>
            </a:extLst>
          </p:cNvPr>
          <p:cNvSpPr txBox="1"/>
          <p:nvPr/>
        </p:nvSpPr>
        <p:spPr>
          <a:xfrm>
            <a:off x="9893809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79D3BE-0824-405E-D2A6-B0B08EE561E8}"/>
              </a:ext>
            </a:extLst>
          </p:cNvPr>
          <p:cNvSpPr txBox="1"/>
          <p:nvPr/>
        </p:nvSpPr>
        <p:spPr>
          <a:xfrm>
            <a:off x="274320" y="1096497"/>
            <a:ext cx="10256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Use the GitHub tab in </a:t>
            </a:r>
            <a:r>
              <a:rPr sz="2400" b="1" dirty="0" err="1">
                <a:solidFill>
                  <a:srgbClr val="2E75B6"/>
                </a:solidFill>
              </a:rPr>
              <a:t>Colab</a:t>
            </a:r>
            <a:endParaRPr sz="2400" b="1" dirty="0">
              <a:solidFill>
                <a:srgbClr val="2E75B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4320-B5B4-7062-BCF4-0C3FE3BA292E}"/>
              </a:ext>
            </a:extLst>
          </p:cNvPr>
          <p:cNvSpPr txBox="1"/>
          <p:nvPr/>
        </p:nvSpPr>
        <p:spPr>
          <a:xfrm>
            <a:off x="914400" y="1748008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404040"/>
                </a:solidFill>
              </a:rPr>
              <a:t>In your web browser, g</a:t>
            </a:r>
            <a:r>
              <a:rPr b="0" dirty="0">
                <a:solidFill>
                  <a:srgbClr val="404040"/>
                </a:solidFill>
              </a:rPr>
              <a:t>o to </a:t>
            </a:r>
            <a:r>
              <a:rPr b="0" dirty="0" err="1">
                <a:solidFill>
                  <a:srgbClr val="404040"/>
                </a:solidFill>
              </a:rPr>
              <a:t>colab.research.google.com</a:t>
            </a:r>
            <a:endParaRPr b="0" dirty="0">
              <a:solidFill>
                <a:srgbClr val="40404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A9911A-46F1-689A-239C-73C4234B0556}"/>
              </a:ext>
            </a:extLst>
          </p:cNvPr>
          <p:cNvSpPr txBox="1"/>
          <p:nvPr/>
        </p:nvSpPr>
        <p:spPr>
          <a:xfrm>
            <a:off x="914400" y="3108969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Click File → Open notebook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863846-2214-ADEE-FD02-C7A473D76EC1}"/>
              </a:ext>
            </a:extLst>
          </p:cNvPr>
          <p:cNvSpPr txBox="1"/>
          <p:nvPr/>
        </p:nvSpPr>
        <p:spPr>
          <a:xfrm>
            <a:off x="914400" y="3783992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Click the GitHub tab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1343E1-EC07-7A33-64E8-49444A9E82EF}"/>
              </a:ext>
            </a:extLst>
          </p:cNvPr>
          <p:cNvSpPr txBox="1"/>
          <p:nvPr/>
        </p:nvSpPr>
        <p:spPr>
          <a:xfrm>
            <a:off x="914400" y="4425705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404040"/>
                </a:solidFill>
              </a:rPr>
              <a:t>Enter</a:t>
            </a:r>
            <a:r>
              <a:rPr b="0" dirty="0">
                <a:solidFill>
                  <a:srgbClr val="404040"/>
                </a:solidFill>
              </a:rPr>
              <a:t> the repository: </a:t>
            </a:r>
            <a:r>
              <a:rPr lang="en-US" b="1" dirty="0">
                <a:solidFill>
                  <a:srgbClr val="1F3564"/>
                </a:solidFill>
              </a:rPr>
              <a:t>YOUR-USERNAME/July26_BCCE</a:t>
            </a:r>
            <a:endParaRPr b="0" dirty="0">
              <a:solidFill>
                <a:srgbClr val="40404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6127E9-5D6A-B713-B4C1-A20D972A0F6D}"/>
              </a:ext>
            </a:extLst>
          </p:cNvPr>
          <p:cNvSpPr txBox="1"/>
          <p:nvPr/>
        </p:nvSpPr>
        <p:spPr>
          <a:xfrm>
            <a:off x="914400" y="5067418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Select the notebook you want</a:t>
            </a:r>
            <a:r>
              <a:rPr lang="en-US" dirty="0">
                <a:solidFill>
                  <a:srgbClr val="404040"/>
                </a:solidFill>
              </a:rPr>
              <a:t>, and </a:t>
            </a:r>
            <a:r>
              <a:rPr b="0" dirty="0">
                <a:solidFill>
                  <a:srgbClr val="404040"/>
                </a:solidFill>
              </a:rPr>
              <a:t>it opens immediately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FBD9F8-7CB6-9F56-73DC-A5F1E1B181C8}"/>
              </a:ext>
            </a:extLst>
          </p:cNvPr>
          <p:cNvSpPr txBox="1"/>
          <p:nvPr/>
        </p:nvSpPr>
        <p:spPr>
          <a:xfrm>
            <a:off x="914400" y="5737958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404040"/>
                </a:solidFill>
              </a:rPr>
              <a:t>Let’s open notebook 001_Colab_and_Python_Essentials.ipynb</a:t>
            </a:r>
            <a:endParaRPr b="0" dirty="0">
              <a:solidFill>
                <a:srgbClr val="40404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D611A7-192E-013F-3976-854FFAD798E0}"/>
              </a:ext>
            </a:extLst>
          </p:cNvPr>
          <p:cNvSpPr/>
          <p:nvPr/>
        </p:nvSpPr>
        <p:spPr>
          <a:xfrm>
            <a:off x="274320" y="1648819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40388C-C035-36A8-A55D-D1BFF78F46E1}"/>
              </a:ext>
            </a:extLst>
          </p:cNvPr>
          <p:cNvSpPr txBox="1"/>
          <p:nvPr/>
        </p:nvSpPr>
        <p:spPr>
          <a:xfrm>
            <a:off x="274320" y="1694538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0FF9A0-0D73-73D9-E1D9-E373682F76D1}"/>
              </a:ext>
            </a:extLst>
          </p:cNvPr>
          <p:cNvSpPr/>
          <p:nvPr/>
        </p:nvSpPr>
        <p:spPr>
          <a:xfrm>
            <a:off x="274320" y="301324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E39C60-745E-EDB1-E490-E678081F704D}"/>
              </a:ext>
            </a:extLst>
          </p:cNvPr>
          <p:cNvSpPr txBox="1"/>
          <p:nvPr/>
        </p:nvSpPr>
        <p:spPr>
          <a:xfrm>
            <a:off x="274320" y="3058962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934A40-EBDA-33F0-C7F2-6A24F90DA7BC}"/>
              </a:ext>
            </a:extLst>
          </p:cNvPr>
          <p:cNvSpPr/>
          <p:nvPr/>
        </p:nvSpPr>
        <p:spPr>
          <a:xfrm>
            <a:off x="274320" y="3671611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68C2D2-EDF4-4184-9300-56BEBA730992}"/>
              </a:ext>
            </a:extLst>
          </p:cNvPr>
          <p:cNvSpPr txBox="1"/>
          <p:nvPr/>
        </p:nvSpPr>
        <p:spPr>
          <a:xfrm>
            <a:off x="274320" y="371733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03F147-DB93-8C46-9808-75C987BEE237}"/>
              </a:ext>
            </a:extLst>
          </p:cNvPr>
          <p:cNvSpPr/>
          <p:nvPr/>
        </p:nvSpPr>
        <p:spPr>
          <a:xfrm>
            <a:off x="274320" y="4329979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4E39A9-ED42-DE9D-8F30-9F356C38A036}"/>
              </a:ext>
            </a:extLst>
          </p:cNvPr>
          <p:cNvSpPr txBox="1"/>
          <p:nvPr/>
        </p:nvSpPr>
        <p:spPr>
          <a:xfrm>
            <a:off x="274320" y="4375699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6BB1DA-55EE-B3A1-75F6-2B50207E1293}"/>
              </a:ext>
            </a:extLst>
          </p:cNvPr>
          <p:cNvSpPr/>
          <p:nvPr/>
        </p:nvSpPr>
        <p:spPr>
          <a:xfrm>
            <a:off x="274320" y="498079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A0E96C-C006-C50E-DEE6-5711E4ACA948}"/>
              </a:ext>
            </a:extLst>
          </p:cNvPr>
          <p:cNvSpPr txBox="1"/>
          <p:nvPr/>
        </p:nvSpPr>
        <p:spPr>
          <a:xfrm>
            <a:off x="274320" y="5026511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6DC208-BF3F-18F2-584D-4DD7298A94FD}"/>
              </a:ext>
            </a:extLst>
          </p:cNvPr>
          <p:cNvSpPr/>
          <p:nvPr/>
        </p:nvSpPr>
        <p:spPr>
          <a:xfrm>
            <a:off x="274320" y="5639160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4B7722-5701-8C24-1A1B-3D1E1C62960F}"/>
              </a:ext>
            </a:extLst>
          </p:cNvPr>
          <p:cNvSpPr txBox="1"/>
          <p:nvPr/>
        </p:nvSpPr>
        <p:spPr>
          <a:xfrm>
            <a:off x="274320" y="568488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7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4F1B7-6024-6872-C0B5-BAF39FD77AD5}"/>
              </a:ext>
            </a:extLst>
          </p:cNvPr>
          <p:cNvSpPr/>
          <p:nvPr/>
        </p:nvSpPr>
        <p:spPr>
          <a:xfrm>
            <a:off x="914400" y="2330427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9831A5-4D98-6FEA-D91D-AB2723D94EF1}"/>
              </a:ext>
            </a:extLst>
          </p:cNvPr>
          <p:cNvSpPr/>
          <p:nvPr/>
        </p:nvSpPr>
        <p:spPr>
          <a:xfrm>
            <a:off x="274320" y="2330427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72B08-20B9-A256-79EF-677DF748E5FA}"/>
              </a:ext>
            </a:extLst>
          </p:cNvPr>
          <p:cNvSpPr txBox="1"/>
          <p:nvPr/>
        </p:nvSpPr>
        <p:spPr>
          <a:xfrm>
            <a:off x="274320" y="2376147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E397E-3F62-97EF-16CB-DF24971DEEE4}"/>
              </a:ext>
            </a:extLst>
          </p:cNvPr>
          <p:cNvSpPr txBox="1"/>
          <p:nvPr/>
        </p:nvSpPr>
        <p:spPr>
          <a:xfrm>
            <a:off x="914400" y="2429225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Click </a:t>
            </a:r>
            <a:r>
              <a:rPr lang="en-US" dirty="0">
                <a:solidFill>
                  <a:srgbClr val="404040"/>
                </a:solidFill>
              </a:rPr>
              <a:t>the “+ </a:t>
            </a:r>
            <a:r>
              <a:rPr lang="en-US">
                <a:solidFill>
                  <a:srgbClr val="404040"/>
                </a:solidFill>
              </a:rPr>
              <a:t>New Notebook” </a:t>
            </a:r>
            <a:r>
              <a:rPr lang="en-US" dirty="0">
                <a:solidFill>
                  <a:srgbClr val="404040"/>
                </a:solidFill>
              </a:rPr>
              <a:t>Button</a:t>
            </a:r>
            <a:endParaRPr b="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01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B0C4-AE22-4655-B9CB-A874D154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E108E3-B395-407D-D72E-8279302F7B28}"/>
              </a:ext>
            </a:extLst>
          </p:cNvPr>
          <p:cNvSpPr/>
          <p:nvPr/>
        </p:nvSpPr>
        <p:spPr>
          <a:xfrm>
            <a:off x="960120" y="1843330"/>
            <a:ext cx="10789920" cy="5654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A2640E-A075-7FF4-D966-17C3CDC1EEFD}"/>
              </a:ext>
            </a:extLst>
          </p:cNvPr>
          <p:cNvSpPr/>
          <p:nvPr/>
        </p:nvSpPr>
        <p:spPr>
          <a:xfrm>
            <a:off x="960120" y="3176457"/>
            <a:ext cx="10789920" cy="646331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95D593-370D-CF30-337C-62D304F96219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D7C85-0D2B-B0F4-801C-A0CFC4900011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4</a:t>
            </a:r>
            <a:r>
              <a:rPr sz="3000" b="1" dirty="0">
                <a:solidFill>
                  <a:srgbClr val="FFFFFF"/>
                </a:solidFill>
              </a:rPr>
              <a:t> — </a:t>
            </a:r>
            <a:r>
              <a:rPr lang="en-US" sz="3000" b="1" dirty="0">
                <a:solidFill>
                  <a:srgbClr val="FFFFFF"/>
                </a:solidFill>
              </a:rPr>
              <a:t>Saving a New </a:t>
            </a:r>
            <a:r>
              <a:rPr lang="en-US" sz="3000" b="1" dirty="0" err="1">
                <a:solidFill>
                  <a:srgbClr val="FFFFFF"/>
                </a:solidFill>
              </a:rPr>
              <a:t>Colab</a:t>
            </a:r>
            <a:r>
              <a:rPr lang="en-US" sz="3000" b="1" dirty="0">
                <a:solidFill>
                  <a:srgbClr val="FFFFFF"/>
                </a:solidFill>
              </a:rPr>
              <a:t> Notebook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047634-6763-1644-7A80-87BD22DCB7A7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CE7E3-DF53-8F6A-C3CC-31C99090F5D3}"/>
              </a:ext>
            </a:extLst>
          </p:cNvPr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0878DB-AB1E-CD55-FD50-BF5BB7BFACA4}"/>
              </a:ext>
            </a:extLst>
          </p:cNvPr>
          <p:cNvSpPr/>
          <p:nvPr/>
        </p:nvSpPr>
        <p:spPr>
          <a:xfrm>
            <a:off x="365760" y="1188221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9E7149-DF3C-28EE-B718-EA45A24F539E}"/>
              </a:ext>
            </a:extLst>
          </p:cNvPr>
          <p:cNvSpPr txBox="1"/>
          <p:nvPr/>
        </p:nvSpPr>
        <p:spPr>
          <a:xfrm>
            <a:off x="365760" y="123394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B8B3BB-0EF8-3F06-CDDF-58690E667AB4}"/>
              </a:ext>
            </a:extLst>
          </p:cNvPr>
          <p:cNvSpPr/>
          <p:nvPr/>
        </p:nvSpPr>
        <p:spPr>
          <a:xfrm>
            <a:off x="960120" y="1186701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7CB37-3646-92FB-857F-35ECEB252E1A}"/>
              </a:ext>
            </a:extLst>
          </p:cNvPr>
          <p:cNvSpPr/>
          <p:nvPr/>
        </p:nvSpPr>
        <p:spPr>
          <a:xfrm>
            <a:off x="365760" y="1846589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B0106D-786C-C730-0B49-E367A8FCD18C}"/>
              </a:ext>
            </a:extLst>
          </p:cNvPr>
          <p:cNvSpPr txBox="1"/>
          <p:nvPr/>
        </p:nvSpPr>
        <p:spPr>
          <a:xfrm>
            <a:off x="365760" y="1892309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E665F2-1ACF-1538-A1E5-A3E26CD88D57}"/>
              </a:ext>
            </a:extLst>
          </p:cNvPr>
          <p:cNvSpPr/>
          <p:nvPr/>
        </p:nvSpPr>
        <p:spPr>
          <a:xfrm>
            <a:off x="365760" y="2504958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21C206-BE88-46D6-E9D1-B258F57C3264}"/>
              </a:ext>
            </a:extLst>
          </p:cNvPr>
          <p:cNvSpPr txBox="1"/>
          <p:nvPr/>
        </p:nvSpPr>
        <p:spPr>
          <a:xfrm>
            <a:off x="365760" y="2550677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8D2159-6593-A8A7-8E16-4CF425FE6E13}"/>
              </a:ext>
            </a:extLst>
          </p:cNvPr>
          <p:cNvSpPr/>
          <p:nvPr/>
        </p:nvSpPr>
        <p:spPr>
          <a:xfrm>
            <a:off x="960120" y="2506478"/>
            <a:ext cx="10789920" cy="5654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B48FD3-21EF-DE5D-1A66-09B6941E32B6}"/>
              </a:ext>
            </a:extLst>
          </p:cNvPr>
          <p:cNvSpPr/>
          <p:nvPr/>
        </p:nvSpPr>
        <p:spPr>
          <a:xfrm>
            <a:off x="365760" y="3223554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56B5D0-8314-D1C9-B06D-C1ABA01B1546}"/>
              </a:ext>
            </a:extLst>
          </p:cNvPr>
          <p:cNvSpPr txBox="1"/>
          <p:nvPr/>
        </p:nvSpPr>
        <p:spPr>
          <a:xfrm>
            <a:off x="365760" y="326927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AE6B22-97E8-F83F-6D0F-4FC3441F4740}"/>
              </a:ext>
            </a:extLst>
          </p:cNvPr>
          <p:cNvSpPr txBox="1"/>
          <p:nvPr/>
        </p:nvSpPr>
        <p:spPr>
          <a:xfrm>
            <a:off x="1051560" y="1276402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Go to </a:t>
            </a:r>
            <a:r>
              <a:rPr lang="en-US" b="1" dirty="0">
                <a:solidFill>
                  <a:srgbClr val="1F3564"/>
                </a:solidFill>
              </a:rPr>
              <a:t>File → Save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3C3F3-F8D7-238E-3524-EBA250C063FD}"/>
              </a:ext>
            </a:extLst>
          </p:cNvPr>
          <p:cNvSpPr txBox="1"/>
          <p:nvPr/>
        </p:nvSpPr>
        <p:spPr>
          <a:xfrm>
            <a:off x="1051560" y="1948895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The first time you do this, GitHub may ask you to </a:t>
            </a:r>
            <a:r>
              <a:rPr lang="en-US" b="1" dirty="0">
                <a:solidFill>
                  <a:srgbClr val="1F3564"/>
                </a:solidFill>
              </a:rPr>
              <a:t>authorize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1" dirty="0">
                <a:solidFill>
                  <a:srgbClr val="1F3564"/>
                </a:solidFill>
              </a:rPr>
              <a:t> — click Authorize and sign in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341662-EBB6-4C3B-835F-EC89F53998F9}"/>
              </a:ext>
            </a:extLst>
          </p:cNvPr>
          <p:cNvSpPr txBox="1"/>
          <p:nvPr/>
        </p:nvSpPr>
        <p:spPr>
          <a:xfrm>
            <a:off x="1051560" y="2581648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In the dialog box that appears, select your </a:t>
            </a:r>
            <a:r>
              <a:rPr lang="en-US" b="1" dirty="0">
                <a:solidFill>
                  <a:srgbClr val="1F3564"/>
                </a:solidFill>
              </a:rPr>
              <a:t>repository</a:t>
            </a:r>
            <a:r>
              <a:rPr lang="en-US" b="0" dirty="0">
                <a:solidFill>
                  <a:srgbClr val="1F3564"/>
                </a:solidFill>
              </a:rPr>
              <a:t> from the dropdown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165FF0-F963-8CC6-B490-F2B5192450AC}"/>
              </a:ext>
            </a:extLst>
          </p:cNvPr>
          <p:cNvSpPr txBox="1"/>
          <p:nvPr/>
        </p:nvSpPr>
        <p:spPr>
          <a:xfrm>
            <a:off x="960120" y="3167522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564"/>
                </a:solidFill>
              </a:rPr>
              <a:t>Confirm the branch is set to </a:t>
            </a:r>
            <a:r>
              <a:rPr lang="en-US" b="1" dirty="0">
                <a:solidFill>
                  <a:srgbClr val="1F3564"/>
                </a:solidFill>
              </a:rPr>
              <a:t>main </a:t>
            </a:r>
            <a:r>
              <a:rPr lang="en-US" dirty="0">
                <a:solidFill>
                  <a:srgbClr val="1F3564"/>
                </a:solidFill>
              </a:rPr>
              <a:t>and add a short </a:t>
            </a:r>
            <a:r>
              <a:rPr lang="en-US" b="1" dirty="0">
                <a:solidFill>
                  <a:srgbClr val="1F3564"/>
                </a:solidFill>
              </a:rPr>
              <a:t>commit message </a:t>
            </a:r>
            <a:r>
              <a:rPr lang="en-US" dirty="0">
                <a:solidFill>
                  <a:srgbClr val="1F3564"/>
                </a:solidFill>
              </a:rPr>
              <a:t>describing what you saved (e.g., "Add intro notebook")</a:t>
            </a:r>
            <a:endParaRPr dirty="0">
              <a:solidFill>
                <a:srgbClr val="1F356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5A80B6-9A8C-26D0-34B2-E3D1FB5B915B}"/>
              </a:ext>
            </a:extLst>
          </p:cNvPr>
          <p:cNvSpPr/>
          <p:nvPr/>
        </p:nvSpPr>
        <p:spPr>
          <a:xfrm>
            <a:off x="365760" y="4014765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44270-6A80-F03A-9863-6CF052CA2DA0}"/>
              </a:ext>
            </a:extLst>
          </p:cNvPr>
          <p:cNvSpPr/>
          <p:nvPr/>
        </p:nvSpPr>
        <p:spPr>
          <a:xfrm>
            <a:off x="960120" y="3917394"/>
            <a:ext cx="10789920" cy="74784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487FDB-8E9F-A3D4-575B-52CEB6C42813}"/>
              </a:ext>
            </a:extLst>
          </p:cNvPr>
          <p:cNvSpPr txBox="1"/>
          <p:nvPr/>
        </p:nvSpPr>
        <p:spPr>
          <a:xfrm>
            <a:off x="365760" y="4060484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9CB34C-EC0F-5EE8-68F2-B4DD6BA9B6A6}"/>
              </a:ext>
            </a:extLst>
          </p:cNvPr>
          <p:cNvSpPr txBox="1"/>
          <p:nvPr/>
        </p:nvSpPr>
        <p:spPr>
          <a:xfrm>
            <a:off x="1051560" y="3961594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Ensure </a:t>
            </a:r>
            <a:r>
              <a:rPr lang="en-US" b="1" dirty="0">
                <a:solidFill>
                  <a:srgbClr val="1F3564"/>
                </a:solidFill>
              </a:rPr>
              <a:t>Include a link to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0" dirty="0">
                <a:solidFill>
                  <a:srgbClr val="1F3564"/>
                </a:solidFill>
              </a:rPr>
              <a:t> is checked and </a:t>
            </a:r>
            <a:r>
              <a:rPr lang="en-US" dirty="0">
                <a:solidFill>
                  <a:srgbClr val="1F3564"/>
                </a:solidFill>
              </a:rPr>
              <a:t>c</a:t>
            </a:r>
            <a:r>
              <a:rPr lang="en-US" b="0" dirty="0">
                <a:solidFill>
                  <a:srgbClr val="1F3564"/>
                </a:solidFill>
              </a:rPr>
              <a:t>lick </a:t>
            </a:r>
            <a:r>
              <a:rPr lang="en-US" b="1" dirty="0">
                <a:solidFill>
                  <a:srgbClr val="1F3564"/>
                </a:solidFill>
              </a:rPr>
              <a:t>OK</a:t>
            </a:r>
            <a:r>
              <a:rPr lang="en-US" b="0" dirty="0">
                <a:solidFill>
                  <a:srgbClr val="1F3564"/>
                </a:solidFill>
              </a:rPr>
              <a:t> — your notebook is now saved to GitHub with an open in GitHub link that anyone can use!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7F5EDE-F933-7854-F9E8-549E26D63C1C}"/>
              </a:ext>
            </a:extLst>
          </p:cNvPr>
          <p:cNvSpPr txBox="1"/>
          <p:nvPr/>
        </p:nvSpPr>
        <p:spPr>
          <a:xfrm>
            <a:off x="705051" y="4792951"/>
            <a:ext cx="10784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You can run the rest of the workshop notebooks from your forked copy! </a:t>
            </a:r>
          </a:p>
          <a:p>
            <a:pPr algn="ctr"/>
            <a:r>
              <a:rPr lang="en-US" sz="2400" b="1" dirty="0"/>
              <a:t>You ROCK!</a:t>
            </a:r>
          </a:p>
        </p:txBody>
      </p:sp>
    </p:spTree>
    <p:extLst>
      <p:ext uri="{BB962C8B-B14F-4D97-AF65-F5344CB8AC3E}">
        <p14:creationId xmlns:p14="http://schemas.microsoft.com/office/powerpoint/2010/main" val="3767758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E8E9F-53B5-CF75-DAAC-2EED94F65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44636B-BFAC-D759-9FCD-1FB75F265BC8}"/>
              </a:ext>
            </a:extLst>
          </p:cNvPr>
          <p:cNvSpPr txBox="1"/>
          <p:nvPr/>
        </p:nvSpPr>
        <p:spPr>
          <a:xfrm>
            <a:off x="885525" y="2844225"/>
            <a:ext cx="63796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This is enough GitHub to get started!</a:t>
            </a:r>
          </a:p>
          <a:p>
            <a:r>
              <a:rPr lang="en-US" sz="3200" dirty="0"/>
              <a:t>Let’s learn some </a:t>
            </a:r>
            <a:r>
              <a:rPr lang="en-US" sz="3200" dirty="0" err="1"/>
              <a:t>Colab</a:t>
            </a:r>
            <a:r>
              <a:rPr lang="en-US" sz="3200" dirty="0"/>
              <a:t> and Python </a:t>
            </a:r>
            <a:r>
              <a:rPr lang="en-US" sz="3200" dirty="0">
                <a:sym typeface="Wingdings" pitchFamily="2" charset="2"/>
              </a:rPr>
              <a:t>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EFEF0-BBA9-3FE5-B9E6-BA4E2BD1D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162" y="1954084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82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A0E15-BC50-5A6F-50EC-4E458F1C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140A639-7B6E-A086-E2CC-64EC3FC76EF2}"/>
              </a:ext>
            </a:extLst>
          </p:cNvPr>
          <p:cNvSpPr/>
          <p:nvPr/>
        </p:nvSpPr>
        <p:spPr>
          <a:xfrm>
            <a:off x="960120" y="263987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1990CD-6BA5-1ADE-9220-C757C796EA40}"/>
              </a:ext>
            </a:extLst>
          </p:cNvPr>
          <p:cNvSpPr/>
          <p:nvPr/>
        </p:nvSpPr>
        <p:spPr>
          <a:xfrm>
            <a:off x="960120" y="3945261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8E256D-0DBF-08C9-2AEE-EADF64A853E3}"/>
              </a:ext>
            </a:extLst>
          </p:cNvPr>
          <p:cNvSpPr/>
          <p:nvPr/>
        </p:nvSpPr>
        <p:spPr>
          <a:xfrm>
            <a:off x="937260" y="5280911"/>
            <a:ext cx="10789920" cy="75413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D4346-E45C-830C-29AF-5C62952E0386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EB20B-FCE7-ABE0-036F-2DC7535D5607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5 </a:t>
            </a:r>
            <a:r>
              <a:rPr sz="3000" b="1" dirty="0">
                <a:solidFill>
                  <a:srgbClr val="FFFFFF"/>
                </a:solidFill>
              </a:rPr>
              <a:t>— </a:t>
            </a:r>
            <a:r>
              <a:rPr lang="en-US" sz="3000" b="1" dirty="0">
                <a:solidFill>
                  <a:srgbClr val="FFFFFF"/>
                </a:solidFill>
              </a:rPr>
              <a:t>Creating</a:t>
            </a:r>
            <a:r>
              <a:rPr sz="3000" b="1" dirty="0">
                <a:solidFill>
                  <a:srgbClr val="FFFFFF"/>
                </a:solidFill>
              </a:rPr>
              <a:t> a </a:t>
            </a:r>
            <a:r>
              <a:rPr lang="en-US" sz="3000" b="1" dirty="0">
                <a:solidFill>
                  <a:srgbClr val="FFFFFF"/>
                </a:solidFill>
              </a:rPr>
              <a:t>New </a:t>
            </a:r>
            <a:r>
              <a:rPr sz="3000" b="1" dirty="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7F2045-9B1C-DA93-9736-E8E2342FDB09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B8753-A8B0-9804-19AE-3E5A6BFE9FE1}"/>
              </a:ext>
            </a:extLst>
          </p:cNvPr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63FD2-31A6-8A58-1388-F358DCBD5B76}"/>
              </a:ext>
            </a:extLst>
          </p:cNvPr>
          <p:cNvSpPr txBox="1"/>
          <p:nvPr/>
        </p:nvSpPr>
        <p:spPr>
          <a:xfrm>
            <a:off x="365760" y="1339534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You can create a new </a:t>
            </a:r>
            <a:r>
              <a:rPr sz="2000" b="0" dirty="0">
                <a:solidFill>
                  <a:srgbClr val="404040"/>
                </a:solidFill>
              </a:rPr>
              <a:t>repository</a:t>
            </a:r>
            <a:r>
              <a:rPr lang="en-US" sz="2000" b="0" dirty="0">
                <a:solidFill>
                  <a:srgbClr val="404040"/>
                </a:solidFill>
              </a:rPr>
              <a:t> for your own ideas</a:t>
            </a:r>
            <a:r>
              <a:rPr sz="2000" b="0" dirty="0">
                <a:solidFill>
                  <a:srgbClr val="404040"/>
                </a:solidFill>
              </a:rPr>
              <a:t>. You can edit it, save to it, and build on it</a:t>
            </a:r>
            <a:r>
              <a:rPr lang="en-US" sz="2000" dirty="0">
                <a:solidFill>
                  <a:srgbClr val="404040"/>
                </a:solidFill>
              </a:rPr>
              <a:t>. 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B8BF8-BDD0-D129-78C3-DEFF77B400BA}"/>
              </a:ext>
            </a:extLst>
          </p:cNvPr>
          <p:cNvSpPr/>
          <p:nvPr/>
        </p:nvSpPr>
        <p:spPr>
          <a:xfrm>
            <a:off x="365760" y="1977069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E600-192D-0572-5B19-9E55B5548C07}"/>
              </a:ext>
            </a:extLst>
          </p:cNvPr>
          <p:cNvSpPr txBox="1"/>
          <p:nvPr/>
        </p:nvSpPr>
        <p:spPr>
          <a:xfrm>
            <a:off x="365760" y="2022788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169EF7-52F0-8422-4798-6130444F4BA2}"/>
              </a:ext>
            </a:extLst>
          </p:cNvPr>
          <p:cNvSpPr/>
          <p:nvPr/>
        </p:nvSpPr>
        <p:spPr>
          <a:xfrm>
            <a:off x="960120" y="1977069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10551C-1933-9752-24E9-CF37B2005E4F}"/>
              </a:ext>
            </a:extLst>
          </p:cNvPr>
          <p:cNvSpPr txBox="1"/>
          <p:nvPr/>
        </p:nvSpPr>
        <p:spPr>
          <a:xfrm>
            <a:off x="1051560" y="2089293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Go to  </a:t>
            </a:r>
            <a:r>
              <a:rPr b="1" dirty="0" err="1">
                <a:solidFill>
                  <a:srgbClr val="1F3564"/>
                </a:solidFill>
              </a:rPr>
              <a:t>github.com</a:t>
            </a:r>
            <a:r>
              <a:rPr b="1" dirty="0">
                <a:solidFill>
                  <a:srgbClr val="1F3564"/>
                </a:solidFill>
              </a:rPr>
              <a:t>/</a:t>
            </a:r>
            <a:r>
              <a:rPr lang="en-US" b="1" dirty="0">
                <a:solidFill>
                  <a:srgbClr val="1F3564"/>
                </a:solidFill>
              </a:rPr>
              <a:t>YOUR-USERNAME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8ACEF1-0E70-B7FC-C4F5-69F55BACD8BF}"/>
              </a:ext>
            </a:extLst>
          </p:cNvPr>
          <p:cNvSpPr/>
          <p:nvPr/>
        </p:nvSpPr>
        <p:spPr>
          <a:xfrm>
            <a:off x="365760" y="2635436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C148E1-656B-2C4D-DDAF-5830D12FB283}"/>
              </a:ext>
            </a:extLst>
          </p:cNvPr>
          <p:cNvSpPr txBox="1"/>
          <p:nvPr/>
        </p:nvSpPr>
        <p:spPr>
          <a:xfrm>
            <a:off x="365760" y="2681156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2EA2FF-3FFB-B361-5BBF-866E592544B8}"/>
              </a:ext>
            </a:extLst>
          </p:cNvPr>
          <p:cNvSpPr txBox="1"/>
          <p:nvPr/>
        </p:nvSpPr>
        <p:spPr>
          <a:xfrm>
            <a:off x="1051560" y="2690300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Click the </a:t>
            </a:r>
            <a:r>
              <a:rPr lang="en-US" b="1" dirty="0">
                <a:solidFill>
                  <a:srgbClr val="1F3564"/>
                </a:solidFill>
              </a:rPr>
              <a:t>+</a:t>
            </a:r>
            <a:r>
              <a:rPr lang="en-US" b="0" dirty="0">
                <a:solidFill>
                  <a:srgbClr val="1F3564"/>
                </a:solidFill>
              </a:rPr>
              <a:t> icon in the top-right corner of the page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3CC3D1-6E66-0D44-8968-AA1B210606EA}"/>
              </a:ext>
            </a:extLst>
          </p:cNvPr>
          <p:cNvSpPr/>
          <p:nvPr/>
        </p:nvSpPr>
        <p:spPr>
          <a:xfrm>
            <a:off x="365760" y="3293805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BBD833-6481-6D52-B9ED-EDF482BF7DB3}"/>
              </a:ext>
            </a:extLst>
          </p:cNvPr>
          <p:cNvSpPr txBox="1"/>
          <p:nvPr/>
        </p:nvSpPr>
        <p:spPr>
          <a:xfrm>
            <a:off x="365760" y="3339524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E86AD1-7E11-1191-0AB8-0D1F6FA1E49E}"/>
              </a:ext>
            </a:extLst>
          </p:cNvPr>
          <p:cNvSpPr/>
          <p:nvPr/>
        </p:nvSpPr>
        <p:spPr>
          <a:xfrm>
            <a:off x="960120" y="3292285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E22F2-9F58-3EFC-5EDA-A25ACE12437B}"/>
              </a:ext>
            </a:extLst>
          </p:cNvPr>
          <p:cNvSpPr txBox="1"/>
          <p:nvPr/>
        </p:nvSpPr>
        <p:spPr>
          <a:xfrm>
            <a:off x="1051560" y="3385690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Select </a:t>
            </a:r>
            <a:r>
              <a:rPr lang="en-US" b="1" dirty="0">
                <a:solidFill>
                  <a:srgbClr val="1F3564"/>
                </a:solidFill>
              </a:rPr>
              <a:t>New repository </a:t>
            </a:r>
            <a:r>
              <a:rPr lang="en-US" b="0" dirty="0">
                <a:solidFill>
                  <a:srgbClr val="1F3564"/>
                </a:solidFill>
              </a:rPr>
              <a:t>from the dropdown menu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D0D95-D79A-FEA9-639C-0BECAD0C2022}"/>
              </a:ext>
            </a:extLst>
          </p:cNvPr>
          <p:cNvSpPr/>
          <p:nvPr/>
        </p:nvSpPr>
        <p:spPr>
          <a:xfrm>
            <a:off x="365760" y="3952173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E9E8C-4144-9C10-4E65-52997B8AF6AC}"/>
              </a:ext>
            </a:extLst>
          </p:cNvPr>
          <p:cNvSpPr txBox="1"/>
          <p:nvPr/>
        </p:nvSpPr>
        <p:spPr>
          <a:xfrm>
            <a:off x="365760" y="399789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91E32D-FBA3-9B94-5768-3E7AAEC81DF6}"/>
              </a:ext>
            </a:extLst>
          </p:cNvPr>
          <p:cNvSpPr txBox="1"/>
          <p:nvPr/>
        </p:nvSpPr>
        <p:spPr>
          <a:xfrm>
            <a:off x="1051560" y="4007037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Fill in the Repository name — use something descriptive like </a:t>
            </a:r>
            <a:r>
              <a:rPr lang="en-US" b="1" dirty="0">
                <a:solidFill>
                  <a:srgbClr val="1F3564"/>
                </a:solidFill>
              </a:rPr>
              <a:t>my-chemistry-notebooks</a:t>
            </a:r>
            <a:r>
              <a:rPr lang="en-US" b="0" dirty="0">
                <a:solidFill>
                  <a:srgbClr val="1F3564"/>
                </a:solidFill>
              </a:rPr>
              <a:t> or </a:t>
            </a:r>
            <a:r>
              <a:rPr lang="en-US" b="1" dirty="0">
                <a:solidFill>
                  <a:srgbClr val="1F3564"/>
                </a:solidFill>
              </a:rPr>
              <a:t>Red40-assay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DA1119-EC55-7EB1-E000-657C0571CCA1}"/>
              </a:ext>
            </a:extLst>
          </p:cNvPr>
          <p:cNvSpPr/>
          <p:nvPr/>
        </p:nvSpPr>
        <p:spPr>
          <a:xfrm>
            <a:off x="365760" y="461206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F74487-C36A-E22F-111B-6828D6210021}"/>
              </a:ext>
            </a:extLst>
          </p:cNvPr>
          <p:cNvSpPr txBox="1"/>
          <p:nvPr/>
        </p:nvSpPr>
        <p:spPr>
          <a:xfrm>
            <a:off x="365760" y="4657781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647477-F4B1-CE62-B70A-05169ADEAC2A}"/>
              </a:ext>
            </a:extLst>
          </p:cNvPr>
          <p:cNvSpPr/>
          <p:nvPr/>
        </p:nvSpPr>
        <p:spPr>
          <a:xfrm>
            <a:off x="960120" y="4612062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9D9FC8-89FE-8F67-6168-49A608B1F9C2}"/>
              </a:ext>
            </a:extLst>
          </p:cNvPr>
          <p:cNvSpPr txBox="1"/>
          <p:nvPr/>
        </p:nvSpPr>
        <p:spPr>
          <a:xfrm>
            <a:off x="1051560" y="4705395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564"/>
                </a:solidFill>
              </a:rPr>
              <a:t>Set visibility — choose </a:t>
            </a:r>
            <a:r>
              <a:rPr lang="en-US" b="1" dirty="0">
                <a:solidFill>
                  <a:srgbClr val="1F3564"/>
                </a:solidFill>
              </a:rPr>
              <a:t>Public</a:t>
            </a:r>
            <a:r>
              <a:rPr lang="en-US" dirty="0">
                <a:solidFill>
                  <a:srgbClr val="1F3564"/>
                </a:solidFill>
              </a:rPr>
              <a:t> so anyone can access your notebooks via the Open in </a:t>
            </a:r>
            <a:r>
              <a:rPr lang="en-US" dirty="0" err="1">
                <a:solidFill>
                  <a:srgbClr val="1F3564"/>
                </a:solidFill>
              </a:rPr>
              <a:t>Colab</a:t>
            </a:r>
            <a:r>
              <a:rPr lang="en-US" dirty="0">
                <a:solidFill>
                  <a:srgbClr val="1F3564"/>
                </a:solidFill>
              </a:rPr>
              <a:t> badge</a:t>
            </a:r>
            <a:endParaRPr dirty="0">
              <a:solidFill>
                <a:srgbClr val="1F3564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AD8B41-449B-8F5C-2745-66C875E62F61}"/>
              </a:ext>
            </a:extLst>
          </p:cNvPr>
          <p:cNvSpPr/>
          <p:nvPr/>
        </p:nvSpPr>
        <p:spPr>
          <a:xfrm>
            <a:off x="365760" y="538623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3AE0F4-5E0D-A2AE-7B20-D6698B23E808}"/>
              </a:ext>
            </a:extLst>
          </p:cNvPr>
          <p:cNvSpPr txBox="1"/>
          <p:nvPr/>
        </p:nvSpPr>
        <p:spPr>
          <a:xfrm>
            <a:off x="365760" y="5431951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E2C8CF-49C1-D2C6-8777-1CF97A383347}"/>
              </a:ext>
            </a:extLst>
          </p:cNvPr>
          <p:cNvSpPr txBox="1"/>
          <p:nvPr/>
        </p:nvSpPr>
        <p:spPr>
          <a:xfrm>
            <a:off x="1051560" y="5340991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Check </a:t>
            </a:r>
            <a:r>
              <a:rPr lang="en-US" b="1" dirty="0">
                <a:solidFill>
                  <a:srgbClr val="1F3564"/>
                </a:solidFill>
              </a:rPr>
              <a:t>Add a README file </a:t>
            </a:r>
            <a:r>
              <a:rPr lang="en-US" b="0" dirty="0">
                <a:solidFill>
                  <a:srgbClr val="1F3564"/>
                </a:solidFill>
              </a:rPr>
              <a:t>— this creates the front page of your repository automatically, then click </a:t>
            </a:r>
            <a:r>
              <a:rPr lang="en-US" b="1" dirty="0">
                <a:solidFill>
                  <a:srgbClr val="1F3564"/>
                </a:solidFill>
              </a:rPr>
              <a:t>Create repository</a:t>
            </a:r>
            <a:endParaRPr b="1" dirty="0">
              <a:solidFill>
                <a:srgbClr val="1F35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661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34A0-DCAE-418F-2604-0F92261C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B46F78C-A842-DC39-DB34-3F3A5A1F5506}"/>
              </a:ext>
            </a:extLst>
          </p:cNvPr>
          <p:cNvSpPr/>
          <p:nvPr/>
        </p:nvSpPr>
        <p:spPr>
          <a:xfrm>
            <a:off x="960120" y="2324596"/>
            <a:ext cx="10789920" cy="5654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DA9048-D850-8F7C-8042-F1C7C0EABD03}"/>
              </a:ext>
            </a:extLst>
          </p:cNvPr>
          <p:cNvSpPr/>
          <p:nvPr/>
        </p:nvSpPr>
        <p:spPr>
          <a:xfrm>
            <a:off x="960120" y="3657723"/>
            <a:ext cx="10789920" cy="646331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90CED9-963C-3E4F-AFE3-0FACC69DFA9D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84D58-233E-5EA8-0FAE-54DB0C7B4B26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4 (Again)</a:t>
            </a:r>
            <a:r>
              <a:rPr sz="3000" b="1" dirty="0">
                <a:solidFill>
                  <a:srgbClr val="FFFFFF"/>
                </a:solidFill>
              </a:rPr>
              <a:t> — </a:t>
            </a:r>
            <a:r>
              <a:rPr lang="en-US" sz="3000" b="1" dirty="0">
                <a:solidFill>
                  <a:srgbClr val="FFFFFF"/>
                </a:solidFill>
              </a:rPr>
              <a:t>Saving a New </a:t>
            </a:r>
            <a:r>
              <a:rPr lang="en-US" sz="3000" b="1" dirty="0" err="1">
                <a:solidFill>
                  <a:srgbClr val="FFFFFF"/>
                </a:solidFill>
              </a:rPr>
              <a:t>Colab</a:t>
            </a:r>
            <a:r>
              <a:rPr lang="en-US" sz="3000" b="1" dirty="0">
                <a:solidFill>
                  <a:srgbClr val="FFFFFF"/>
                </a:solidFill>
              </a:rPr>
              <a:t> Notebook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29EAEC-D557-0D4F-BE81-438EBABF91D8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ABDA7-C7D1-7D2A-12AC-5CF734B6807C}"/>
              </a:ext>
            </a:extLst>
          </p:cNvPr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26492E-1101-2DEF-7318-C4217F9D8BA5}"/>
              </a:ext>
            </a:extLst>
          </p:cNvPr>
          <p:cNvSpPr/>
          <p:nvPr/>
        </p:nvSpPr>
        <p:spPr>
          <a:xfrm>
            <a:off x="365760" y="1669487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59A044-0121-30B5-B9B4-3A69E6EE141D}"/>
              </a:ext>
            </a:extLst>
          </p:cNvPr>
          <p:cNvSpPr txBox="1"/>
          <p:nvPr/>
        </p:nvSpPr>
        <p:spPr>
          <a:xfrm>
            <a:off x="365760" y="1715206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9C3899-B623-0F52-5900-B8219C74FC22}"/>
              </a:ext>
            </a:extLst>
          </p:cNvPr>
          <p:cNvSpPr/>
          <p:nvPr/>
        </p:nvSpPr>
        <p:spPr>
          <a:xfrm>
            <a:off x="960120" y="1667967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F7CAE6-ECC6-999A-F929-128D5FBA51B6}"/>
              </a:ext>
            </a:extLst>
          </p:cNvPr>
          <p:cNvSpPr/>
          <p:nvPr/>
        </p:nvSpPr>
        <p:spPr>
          <a:xfrm>
            <a:off x="365760" y="2327855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CF1583-2944-4F69-05C4-047393F915E7}"/>
              </a:ext>
            </a:extLst>
          </p:cNvPr>
          <p:cNvSpPr txBox="1"/>
          <p:nvPr/>
        </p:nvSpPr>
        <p:spPr>
          <a:xfrm>
            <a:off x="365760" y="2373575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5C9E86-807B-3468-6455-62FF254F7519}"/>
              </a:ext>
            </a:extLst>
          </p:cNvPr>
          <p:cNvSpPr/>
          <p:nvPr/>
        </p:nvSpPr>
        <p:spPr>
          <a:xfrm>
            <a:off x="365760" y="2986224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8D4629-D80A-6A72-FEBA-D3195DD4719E}"/>
              </a:ext>
            </a:extLst>
          </p:cNvPr>
          <p:cNvSpPr txBox="1"/>
          <p:nvPr/>
        </p:nvSpPr>
        <p:spPr>
          <a:xfrm>
            <a:off x="365760" y="303194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3C0072-4440-86C6-284B-4CDF0B44C033}"/>
              </a:ext>
            </a:extLst>
          </p:cNvPr>
          <p:cNvSpPr/>
          <p:nvPr/>
        </p:nvSpPr>
        <p:spPr>
          <a:xfrm>
            <a:off x="960120" y="2987744"/>
            <a:ext cx="10789920" cy="5654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B52C2C-E329-82E3-D039-FD7819687163}"/>
              </a:ext>
            </a:extLst>
          </p:cNvPr>
          <p:cNvSpPr/>
          <p:nvPr/>
        </p:nvSpPr>
        <p:spPr>
          <a:xfrm>
            <a:off x="365760" y="3704820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58DF2E-A9FD-78EC-6F61-B4E01AAB4475}"/>
              </a:ext>
            </a:extLst>
          </p:cNvPr>
          <p:cNvSpPr txBox="1"/>
          <p:nvPr/>
        </p:nvSpPr>
        <p:spPr>
          <a:xfrm>
            <a:off x="365760" y="3750539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DFF4A3-E224-87A6-C852-BA96DDF886F7}"/>
              </a:ext>
            </a:extLst>
          </p:cNvPr>
          <p:cNvSpPr txBox="1"/>
          <p:nvPr/>
        </p:nvSpPr>
        <p:spPr>
          <a:xfrm>
            <a:off x="1051560" y="1757668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Go to </a:t>
            </a:r>
            <a:r>
              <a:rPr lang="en-US" b="1" dirty="0">
                <a:solidFill>
                  <a:srgbClr val="1F3564"/>
                </a:solidFill>
              </a:rPr>
              <a:t>File → Save a copy in GitHub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45FB27-49B5-3158-8454-FD1BEA181A45}"/>
              </a:ext>
            </a:extLst>
          </p:cNvPr>
          <p:cNvSpPr txBox="1"/>
          <p:nvPr/>
        </p:nvSpPr>
        <p:spPr>
          <a:xfrm>
            <a:off x="1051560" y="2430161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The first time you do this, GitHub may ask you to </a:t>
            </a:r>
            <a:r>
              <a:rPr lang="en-US" b="1" dirty="0">
                <a:solidFill>
                  <a:srgbClr val="1F3564"/>
                </a:solidFill>
              </a:rPr>
              <a:t>authorize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1" dirty="0">
                <a:solidFill>
                  <a:srgbClr val="1F3564"/>
                </a:solidFill>
              </a:rPr>
              <a:t> — click Authorize and sign in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70D51C-7289-769E-757E-2FCB8A817FF7}"/>
              </a:ext>
            </a:extLst>
          </p:cNvPr>
          <p:cNvSpPr txBox="1"/>
          <p:nvPr/>
        </p:nvSpPr>
        <p:spPr>
          <a:xfrm>
            <a:off x="1051560" y="3062914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In the dialog box that appears, select your </a:t>
            </a:r>
            <a:r>
              <a:rPr lang="en-US" b="1" dirty="0">
                <a:solidFill>
                  <a:srgbClr val="1F3564"/>
                </a:solidFill>
              </a:rPr>
              <a:t>repository</a:t>
            </a:r>
            <a:r>
              <a:rPr lang="en-US" b="0" dirty="0">
                <a:solidFill>
                  <a:srgbClr val="1F3564"/>
                </a:solidFill>
              </a:rPr>
              <a:t> from the dropdown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F2A23F-0179-43CD-E8C1-19CB9EDD30B4}"/>
              </a:ext>
            </a:extLst>
          </p:cNvPr>
          <p:cNvSpPr txBox="1"/>
          <p:nvPr/>
        </p:nvSpPr>
        <p:spPr>
          <a:xfrm>
            <a:off x="960120" y="3648788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564"/>
                </a:solidFill>
              </a:rPr>
              <a:t>Confirm the branch is set to </a:t>
            </a:r>
            <a:r>
              <a:rPr lang="en-US" b="1" dirty="0">
                <a:solidFill>
                  <a:srgbClr val="1F3564"/>
                </a:solidFill>
              </a:rPr>
              <a:t>main </a:t>
            </a:r>
            <a:r>
              <a:rPr lang="en-US" dirty="0">
                <a:solidFill>
                  <a:srgbClr val="1F3564"/>
                </a:solidFill>
              </a:rPr>
              <a:t>and add a short </a:t>
            </a:r>
            <a:r>
              <a:rPr lang="en-US" b="1" dirty="0">
                <a:solidFill>
                  <a:srgbClr val="1F3564"/>
                </a:solidFill>
              </a:rPr>
              <a:t>commit message </a:t>
            </a:r>
            <a:r>
              <a:rPr lang="en-US" dirty="0">
                <a:solidFill>
                  <a:srgbClr val="1F3564"/>
                </a:solidFill>
              </a:rPr>
              <a:t>describing what you saved (e.g., "Add intro notebook")</a:t>
            </a:r>
            <a:endParaRPr dirty="0">
              <a:solidFill>
                <a:srgbClr val="1F356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0FD96E-8A65-562C-5F2E-E96A5A4CABC6}"/>
              </a:ext>
            </a:extLst>
          </p:cNvPr>
          <p:cNvSpPr/>
          <p:nvPr/>
        </p:nvSpPr>
        <p:spPr>
          <a:xfrm>
            <a:off x="365760" y="4496031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8FB39C4-509A-8D60-C3D3-6FECAF019A11}"/>
              </a:ext>
            </a:extLst>
          </p:cNvPr>
          <p:cNvSpPr/>
          <p:nvPr/>
        </p:nvSpPr>
        <p:spPr>
          <a:xfrm>
            <a:off x="960120" y="4398660"/>
            <a:ext cx="10789920" cy="74784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D79CB7-66F5-7988-1822-65D879B8BFFC}"/>
              </a:ext>
            </a:extLst>
          </p:cNvPr>
          <p:cNvSpPr txBox="1"/>
          <p:nvPr/>
        </p:nvSpPr>
        <p:spPr>
          <a:xfrm>
            <a:off x="365760" y="454175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CE5408-6CAE-CA23-9556-9E795699E98B}"/>
              </a:ext>
            </a:extLst>
          </p:cNvPr>
          <p:cNvSpPr txBox="1"/>
          <p:nvPr/>
        </p:nvSpPr>
        <p:spPr>
          <a:xfrm>
            <a:off x="1051560" y="4442860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Ensure </a:t>
            </a:r>
            <a:r>
              <a:rPr lang="en-US" b="1" dirty="0">
                <a:solidFill>
                  <a:srgbClr val="1F3564"/>
                </a:solidFill>
              </a:rPr>
              <a:t>Include a link to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0" dirty="0">
                <a:solidFill>
                  <a:srgbClr val="1F3564"/>
                </a:solidFill>
              </a:rPr>
              <a:t> is checked and </a:t>
            </a:r>
            <a:r>
              <a:rPr lang="en-US" dirty="0">
                <a:solidFill>
                  <a:srgbClr val="1F3564"/>
                </a:solidFill>
              </a:rPr>
              <a:t>c</a:t>
            </a:r>
            <a:r>
              <a:rPr lang="en-US" b="0" dirty="0">
                <a:solidFill>
                  <a:srgbClr val="1F3564"/>
                </a:solidFill>
              </a:rPr>
              <a:t>lick </a:t>
            </a:r>
            <a:r>
              <a:rPr lang="en-US" b="1" dirty="0">
                <a:solidFill>
                  <a:srgbClr val="1F3564"/>
                </a:solidFill>
              </a:rPr>
              <a:t>OK</a:t>
            </a:r>
            <a:r>
              <a:rPr lang="en-US" b="0" dirty="0">
                <a:solidFill>
                  <a:srgbClr val="1F3564"/>
                </a:solidFill>
              </a:rPr>
              <a:t> — your notebook is now saved to GitHub with an open in GitHub link that anyone can use!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8F95D-44D7-7EBD-DBF5-8F5F3C4EA009}"/>
              </a:ext>
            </a:extLst>
          </p:cNvPr>
          <p:cNvSpPr txBox="1"/>
          <p:nvPr/>
        </p:nvSpPr>
        <p:spPr>
          <a:xfrm>
            <a:off x="365760" y="1118155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Repeat Walkthrough 4 to save your notebook in your new repository!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CADBAF-2691-B329-3090-9FA46D817A1E}"/>
              </a:ext>
            </a:extLst>
          </p:cNvPr>
          <p:cNvSpPr/>
          <p:nvPr/>
        </p:nvSpPr>
        <p:spPr>
          <a:xfrm>
            <a:off x="201344" y="5306015"/>
            <a:ext cx="11786135" cy="105628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4877AA-A520-13AC-4F68-38CA1EF59EE3}"/>
              </a:ext>
            </a:extLst>
          </p:cNvPr>
          <p:cNvSpPr txBox="1"/>
          <p:nvPr/>
        </p:nvSpPr>
        <p:spPr>
          <a:xfrm>
            <a:off x="303524" y="5360880"/>
            <a:ext cx="11536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3564"/>
                </a:solidFill>
              </a:rPr>
              <a:t>N.B. Don’t use the Open in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1" dirty="0">
                <a:solidFill>
                  <a:srgbClr val="1F3564"/>
                </a:solidFill>
              </a:rPr>
              <a:t> button the first time you open a forked notebook. </a:t>
            </a:r>
            <a:r>
              <a:rPr lang="en-US" dirty="0">
                <a:solidFill>
                  <a:srgbClr val="1F3564"/>
                </a:solidFill>
              </a:rPr>
              <a:t>It still points to the original repo. Instead, use the method in </a:t>
            </a:r>
            <a:r>
              <a:rPr lang="en-US" u="sng" dirty="0">
                <a:solidFill>
                  <a:srgbClr val="1F3564"/>
                </a:solidFill>
              </a:rPr>
              <a:t>walkthrough 1</a:t>
            </a:r>
            <a:r>
              <a:rPr lang="en-US" dirty="0">
                <a:solidFill>
                  <a:srgbClr val="1F3564"/>
                </a:solidFill>
              </a:rPr>
              <a:t> to open your notebook and then save it to GitHub with the “Include a link to </a:t>
            </a:r>
            <a:r>
              <a:rPr lang="en-US" dirty="0" err="1">
                <a:solidFill>
                  <a:srgbClr val="1F3564"/>
                </a:solidFill>
              </a:rPr>
              <a:t>Colab</a:t>
            </a:r>
            <a:r>
              <a:rPr lang="en-US" dirty="0">
                <a:solidFill>
                  <a:srgbClr val="1F3564"/>
                </a:solidFill>
              </a:rPr>
              <a:t>” button checked. This updates the button to your repository! </a:t>
            </a:r>
            <a:endParaRPr b="0" dirty="0">
              <a:solidFill>
                <a:srgbClr val="1F35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166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Saving Your Work — Three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E75B6"/>
                </a:solidFill>
              </a:rPr>
              <a:t>After working in a </a:t>
            </a:r>
            <a:r>
              <a:rPr b="1" dirty="0" err="1">
                <a:solidFill>
                  <a:srgbClr val="2E75B6"/>
                </a:solidFill>
              </a:rPr>
              <a:t>Colab</a:t>
            </a:r>
            <a:r>
              <a:rPr b="1" dirty="0">
                <a:solidFill>
                  <a:srgbClr val="2E75B6"/>
                </a:solidFill>
              </a:rPr>
              <a:t> notebook, you have three ways to save your work: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3657600" cy="5029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Option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Save to Google Drive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Save a copy in Drive</a:t>
            </a:r>
            <a:r>
              <a:rPr lang="en-US" b="0" dirty="0">
                <a:solidFill>
                  <a:srgbClr val="1F3564"/>
                </a:solidFill>
              </a:rPr>
              <a:t>
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5276088"/>
            <a:ext cx="3657600" cy="7132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5321808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for</a:t>
            </a:r>
            <a:r>
              <a:rPr lang="en-US" b="1" dirty="0">
                <a:solidFill>
                  <a:srgbClr val="FFFFFF"/>
                </a:solidFill>
              </a:rPr>
              <a:t> working on notebooks not ready to share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06240" y="1664208"/>
            <a:ext cx="36576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Option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Save to GitHub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2743200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Save a copy in GitHub
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5276088"/>
            <a:ext cx="365760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5321808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for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b="1" dirty="0">
                <a:solidFill>
                  <a:srgbClr val="FFFFFF"/>
                </a:solidFill>
              </a:rPr>
              <a:t>sharing with
students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664208"/>
            <a:ext cx="365760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Option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813816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Download the 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2743200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Download → </a:t>
            </a:r>
            <a:endParaRPr lang="en-US" b="0" dirty="0">
              <a:solidFill>
                <a:srgbClr val="1F3564"/>
              </a:solidFill>
            </a:endParaRPr>
          </a:p>
          <a:p>
            <a:pPr algn="l"/>
            <a:r>
              <a:rPr lang="en-US" dirty="0">
                <a:solidFill>
                  <a:srgbClr val="1F3564"/>
                </a:solidFill>
              </a:rPr>
              <a:t>			</a:t>
            </a:r>
            <a:r>
              <a:rPr b="0" dirty="0">
                <a:solidFill>
                  <a:srgbClr val="1F3564"/>
                </a:solidFill>
              </a:rPr>
              <a:t>Download .</a:t>
            </a:r>
            <a:r>
              <a:rPr b="0" dirty="0" err="1">
                <a:solidFill>
                  <a:srgbClr val="1F3564"/>
                </a:solidFill>
              </a:rPr>
              <a:t>ipynb</a:t>
            </a:r>
            <a:r>
              <a:rPr b="0" dirty="0">
                <a:solidFill>
                  <a:srgbClr val="1F3564"/>
                </a:solidFill>
              </a:rPr>
              <a:t>
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5276088"/>
            <a:ext cx="3657600" cy="7132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5321808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as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b="1" dirty="0">
                <a:solidFill>
                  <a:srgbClr val="FFFFFF"/>
                </a:solidFill>
              </a:rPr>
              <a:t>a backup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074D7C-47F4-BF78-47DF-C46684AF0F72}"/>
              </a:ext>
            </a:extLst>
          </p:cNvPr>
          <p:cNvSpPr txBox="1"/>
          <p:nvPr/>
        </p:nvSpPr>
        <p:spPr>
          <a:xfrm>
            <a:off x="365760" y="3232336"/>
            <a:ext cx="3474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1F3564"/>
                </a:solidFill>
              </a:rPr>
              <a:t>No GitHub account needed
Saves to your </a:t>
            </a:r>
            <a:r>
              <a:rPr lang="en-US" b="0" dirty="0" err="1">
                <a:solidFill>
                  <a:srgbClr val="1F3564"/>
                </a:solidFill>
              </a:rPr>
              <a:t>Colab</a:t>
            </a:r>
            <a:r>
              <a:rPr lang="en-US" b="0" dirty="0">
                <a:solidFill>
                  <a:srgbClr val="1F3564"/>
                </a:solidFill>
              </a:rPr>
              <a:t> Notebooks folder
Best for personal work and quick saves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78D4DB-1B93-759D-2DE4-23B6D659846B}"/>
              </a:ext>
            </a:extLst>
          </p:cNvPr>
          <p:cNvSpPr txBox="1"/>
          <p:nvPr/>
        </p:nvSpPr>
        <p:spPr>
          <a:xfrm>
            <a:off x="4297679" y="3128973"/>
            <a:ext cx="3474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GitHub account required
Saves directly to your forked repository
Creates a commit with a message
Best for sharing and version control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49C5C3-8B03-6F15-C4E3-B5E760A221A4}"/>
              </a:ext>
            </a:extLst>
          </p:cNvPr>
          <p:cNvSpPr txBox="1"/>
          <p:nvPr/>
        </p:nvSpPr>
        <p:spPr>
          <a:xfrm>
            <a:off x="8229600" y="3367506"/>
            <a:ext cx="3474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No account needed
Saves a local copy to your computer
Can be re-uploaded to </a:t>
            </a:r>
            <a:r>
              <a:rPr b="0" dirty="0" err="1">
                <a:solidFill>
                  <a:srgbClr val="1F3564"/>
                </a:solidFill>
              </a:rPr>
              <a:t>Colab</a:t>
            </a:r>
            <a:r>
              <a:rPr b="0" dirty="0">
                <a:solidFill>
                  <a:srgbClr val="1F3564"/>
                </a:solidFill>
              </a:rPr>
              <a:t> later
Best as a backup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GitHub as a Scientific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834" y="1151193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E75B6"/>
                </a:solidFill>
              </a:rPr>
              <a:t>GitHub is not just for software engineers — it is increasingly the standard for open science: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394" y="1727818"/>
            <a:ext cx="1264255" cy="1920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6394" y="1995018"/>
            <a:ext cx="12642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394" y="2409605"/>
            <a:ext cx="1264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Lab notebook
for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2091" y="1727818"/>
            <a:ext cx="4450743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5493" y="1864978"/>
            <a:ext cx="42859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Every change is recorded with who made it and when.
Full history of your analysis — reviewers and collaborators can see exactly
what you did and when.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715" y="1727818"/>
            <a:ext cx="1261872" cy="1920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5962" y="199501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714" y="2409605"/>
            <a:ext cx="1261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Sharing with
students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39029" y="172781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0468" y="1864978"/>
            <a:ext cx="42885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Post a repository for a course — students fork it, work in their own copy,
and submit via GitHub or Google Drive.
No emailing notebooks back and forth.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395" y="3968098"/>
            <a:ext cx="1261872" cy="19202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5847" y="4239276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393" y="4807340"/>
            <a:ext cx="1261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Open science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49706" y="396809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1146" y="4105258"/>
            <a:ext cx="42885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Publish your analysis code alongside your paper.
Readers can reproduce your results exactly.
Journals increasingly require this.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5715" y="3968098"/>
            <a:ext cx="1261872" cy="19202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5169" y="4239276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5715" y="4699618"/>
            <a:ext cx="126187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Community
and </a:t>
            </a:r>
            <a:r>
              <a:rPr sz="1400" b="1" dirty="0">
                <a:solidFill>
                  <a:srgbClr val="FFFFFF"/>
                </a:solidFill>
              </a:rPr>
              <a:t>collaboration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539029" y="396809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0468" y="4105258"/>
            <a:ext cx="42885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F3564"/>
                </a:solidFill>
              </a:rPr>
              <a:t>The </a:t>
            </a:r>
            <a:r>
              <a:rPr sz="2000" b="0" dirty="0" err="1">
                <a:solidFill>
                  <a:srgbClr val="1F3564"/>
                </a:solidFill>
              </a:rPr>
              <a:t>PyBMB</a:t>
            </a:r>
            <a:r>
              <a:rPr sz="2000" b="0" dirty="0">
                <a:solidFill>
                  <a:srgbClr val="1F3564"/>
                </a:solidFill>
              </a:rPr>
              <a:t> community shares notebooks on GitHub.
Fork a notebook, improve it, and share it back.
Living documents that stay current.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Do You Need a GitHub Account?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2E75B6"/>
                </a:solidFill>
              </a:rPr>
              <a:t>You, yes! Students? Not necessarily.</a:t>
            </a:r>
            <a:endParaRPr sz="1800" b="1" dirty="0">
              <a:solidFill>
                <a:srgbClr val="2E75B6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664208"/>
            <a:ext cx="5486400" cy="548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❌  No account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67712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02920" y="2322576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Browse any public repository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Read and view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01568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502920" y="345643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Open a notebook in Colab via badge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68496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Open a notebook via the GitHub tab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35424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502920" y="459028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Download individual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64208"/>
            <a:ext cx="5486400" cy="5486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00800" y="170992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✅  Account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267712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6446520" y="2322576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Fork a repository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83464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46520" y="2889504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Save work back to GitHub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01568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6446520" y="345643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Create your own repository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968496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6446520" y="4023360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Share your notebooks publicly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535424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6446520" y="459028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F3564"/>
                </a:solidFill>
              </a:rPr>
              <a:t>🔑  Contribute to the </a:t>
            </a:r>
            <a:r>
              <a:rPr lang="en-US" sz="2000" dirty="0" err="1">
                <a:solidFill>
                  <a:srgbClr val="1F3564"/>
                </a:solidFill>
              </a:rPr>
              <a:t>Code</a:t>
            </a:r>
            <a:r>
              <a:rPr sz="2000" b="0" dirty="0" err="1">
                <a:solidFill>
                  <a:srgbClr val="1F3564"/>
                </a:solidFill>
              </a:rPr>
              <a:t>BMB</a:t>
            </a:r>
            <a:r>
              <a:rPr sz="2000" b="0" dirty="0">
                <a:solidFill>
                  <a:srgbClr val="1F3564"/>
                </a:solidFill>
              </a:rPr>
              <a:t> community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42432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What You Can Do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4484" y="1281697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Navigate any public 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483" y="2072406"/>
            <a:ext cx="11247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Open any notebook in </a:t>
            </a:r>
            <a:r>
              <a:rPr sz="2800" b="0" dirty="0" err="1">
                <a:solidFill>
                  <a:srgbClr val="FFFFFF"/>
                </a:solidFill>
              </a:rPr>
              <a:t>Colab</a:t>
            </a:r>
            <a:r>
              <a:rPr sz="2800" b="0" dirty="0">
                <a:solidFill>
                  <a:srgbClr val="FFFFFF"/>
                </a:solidFill>
              </a:rPr>
              <a:t> — with or without an Open in </a:t>
            </a:r>
            <a:r>
              <a:rPr sz="2800" b="0" dirty="0" err="1">
                <a:solidFill>
                  <a:srgbClr val="FFFFFF"/>
                </a:solidFill>
              </a:rPr>
              <a:t>Colab</a:t>
            </a:r>
            <a:r>
              <a:rPr sz="2800" b="0" dirty="0">
                <a:solidFill>
                  <a:srgbClr val="FFFFFF"/>
                </a:solidFill>
              </a:rPr>
              <a:t>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8136" y="3653824"/>
            <a:ext cx="10396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</a:t>
            </a:r>
            <a:r>
              <a:rPr lang="en-US" sz="2800" b="0" dirty="0">
                <a:solidFill>
                  <a:srgbClr val="FFFFFF"/>
                </a:solidFill>
              </a:rPr>
              <a:t>Create your own repository and save a new </a:t>
            </a:r>
            <a:r>
              <a:rPr lang="en-US" sz="2800" b="0" dirty="0" err="1">
                <a:solidFill>
                  <a:srgbClr val="FFFFFF"/>
                </a:solidFill>
              </a:rPr>
              <a:t>Colab</a:t>
            </a:r>
            <a:r>
              <a:rPr lang="en-US" sz="2800" b="0" dirty="0">
                <a:solidFill>
                  <a:srgbClr val="FFFFFF"/>
                </a:solidFill>
              </a:rPr>
              <a:t> notebook to it</a:t>
            </a:r>
            <a:endParaRPr sz="2800" b="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4484" y="4444533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FFFFFF"/>
                </a:solidFill>
              </a:rPr>
              <a:t>✅   Save your work </a:t>
            </a:r>
            <a:r>
              <a:rPr lang="en-US" sz="2800" b="0" dirty="0">
                <a:solidFill>
                  <a:srgbClr val="FFFFFF"/>
                </a:solidFill>
              </a:rPr>
              <a:t>back to </a:t>
            </a:r>
            <a:r>
              <a:rPr lang="en-US" sz="2800" dirty="0">
                <a:solidFill>
                  <a:srgbClr val="FFFFFF"/>
                </a:solidFill>
              </a:rPr>
              <a:t>GitHub (or to Google Drive)</a:t>
            </a:r>
            <a:endParaRPr sz="2800" b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4484" y="2863115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✅</a:t>
            </a:r>
            <a:r>
              <a:rPr sz="2800" b="0" dirty="0">
                <a:solidFill>
                  <a:srgbClr val="BDD7EE"/>
                </a:solidFill>
              </a:rPr>
              <a:t>   </a:t>
            </a:r>
            <a:r>
              <a:rPr sz="2800" b="0" dirty="0">
                <a:solidFill>
                  <a:schemeClr val="bg1"/>
                </a:solidFill>
              </a:rPr>
              <a:t>Fork the </a:t>
            </a:r>
            <a:r>
              <a:rPr lang="en-US" sz="2800" b="0" dirty="0">
                <a:solidFill>
                  <a:schemeClr val="bg1"/>
                </a:solidFill>
              </a:rPr>
              <a:t>July26_BCCE</a:t>
            </a:r>
            <a:r>
              <a:rPr sz="2800" b="0" dirty="0">
                <a:solidFill>
                  <a:schemeClr val="bg1"/>
                </a:solidFill>
              </a:rPr>
              <a:t> repository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55203"/>
            <a:ext cx="112471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84505" y="5557766"/>
            <a:ext cx="1088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FFFFFF"/>
                </a:solidFill>
              </a:rPr>
              <a:t>Workshop repository:  </a:t>
            </a:r>
            <a:r>
              <a:rPr b="0" dirty="0" err="1">
                <a:solidFill>
                  <a:srgbClr val="FFFFFF"/>
                </a:solidFill>
              </a:rPr>
              <a:t>github.com</a:t>
            </a:r>
            <a:r>
              <a:rPr b="0" dirty="0">
                <a:solidFill>
                  <a:srgbClr val="FFFFFF"/>
                </a:solidFill>
              </a:rPr>
              <a:t>/</a:t>
            </a:r>
            <a:r>
              <a:rPr b="0" dirty="0" err="1">
                <a:solidFill>
                  <a:srgbClr val="FFFFFF"/>
                </a:solidFill>
              </a:rPr>
              <a:t>codeBMB</a:t>
            </a:r>
            <a:r>
              <a:rPr b="0" dirty="0">
                <a:solidFill>
                  <a:srgbClr val="FFFFFF"/>
                </a:solidFill>
              </a:rPr>
              <a:t>/</a:t>
            </a:r>
            <a:r>
              <a:rPr lang="en-US" b="0" dirty="0">
                <a:solidFill>
                  <a:srgbClr val="FFFFFF"/>
                </a:solidFill>
              </a:rPr>
              <a:t>July</a:t>
            </a:r>
            <a:r>
              <a:rPr b="0" dirty="0">
                <a:solidFill>
                  <a:srgbClr val="FFFFFF"/>
                </a:solidFill>
              </a:rPr>
              <a:t>26_</a:t>
            </a:r>
            <a:r>
              <a:rPr lang="en-US" b="0" dirty="0">
                <a:solidFill>
                  <a:srgbClr val="FFFFFF"/>
                </a:solidFill>
              </a:rPr>
              <a:t>BCCE</a:t>
            </a:r>
            <a:endParaRPr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1608</TotalTime>
  <Words>1583</Words>
  <Application>Microsoft Macintosh PowerPoint</Application>
  <PresentationFormat>Custom</PresentationFormat>
  <Paragraphs>187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Walter Novak</cp:lastModifiedBy>
  <cp:revision>34</cp:revision>
  <dcterms:created xsi:type="dcterms:W3CDTF">2013-01-27T09:14:16Z</dcterms:created>
  <dcterms:modified xsi:type="dcterms:W3CDTF">2026-07-26T14:27:04Z</dcterms:modified>
  <cp:category/>
</cp:coreProperties>
</file>